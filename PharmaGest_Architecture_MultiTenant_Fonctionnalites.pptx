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PLATEFORME SAAS ÉVOLUTIVE &amp; ERP OFFICINAL INTÉGRÉ</a:t>
            </a:r>
          </a:p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Architecture Multi-Tenant Fédérée &amp; Guide Exhaustif de Toutes les Fonctionnalités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663440"/>
            <a:ext cx="245059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🛡️ Multi-Tenant Strict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Cloisonnement hermétique par pharmacy_id sur 100% des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6472" y="4663440"/>
            <a:ext cx="245059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⚡ Point de Vente &amp; Caisse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Multi-caisses, déstockage FEFO, Tiers-Payant &amp; Rapports 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5664" y="4663440"/>
            <a:ext cx="245059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🏛️ Fiscalité OBR EBMS V0.5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Certification fiscale temps réel, signatures SHA256 &amp; QR Codes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34856" y="4663440"/>
            <a:ext cx="2450592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🔄 Offline-First &amp; Sync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Vente ininterrompue en local SQLite + Sync Cloud idempotente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ARCHITECTURE FÉDÉRÉE SAAS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Fondations du Modèle Multi-Tenant &amp; Cloisonnement des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ISOLATION MULTI-TENANT : PHARMACY_ID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Modèle Partagé avec Discriminateur (Tenant ID)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GARANTIE D'ISOLATION ZÉRO-FUITE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Partitionnement universel : </a:t>
            </a:r>
            <a:r>
              <a:rPr>
                <a:solidFill>
                  <a:srgbClr val="64748B"/>
                </a:solidFill>
              </a:rPr>
              <a:t>Chaque table métier possède la colonne obligatoire `pharmacy_id` liée au tenant.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Row-Level Security applicatif : </a:t>
            </a:r>
            <a:r>
              <a:rPr>
                <a:solidFill>
                  <a:srgbClr val="64748B"/>
                </a:solidFill>
              </a:rPr>
              <a:t>L'ORM SQLAlchemy injecte automatiquement le filtre WHERE pharmacy_id = :id sur chaque SELECT, UPDATE et DELETE.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Étanchéité cryptographique : </a:t>
            </a:r>
            <a:r>
              <a:rPr>
                <a:solidFill>
                  <a:srgbClr val="64748B"/>
                </a:solidFill>
              </a:rPr>
              <a:t>Impossible pour la Pharmacie A de requêter, voir ou modifier les données de la Pharmacie B.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Performance &amp; Évolutivité : </a:t>
            </a:r>
            <a:r>
              <a:rPr>
                <a:solidFill>
                  <a:srgbClr val="64748B"/>
                </a:solidFill>
              </a:rPr>
              <a:t>Indexation composite sur (pharmacy_id, id) et (pharmacy_id, barcode) pour des requêtes sub-milliseconde.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Mutualisation des ressources : </a:t>
            </a:r>
            <a:r>
              <a:rPr>
                <a:solidFill>
                  <a:srgbClr val="64748B"/>
                </a:solidFill>
              </a:rPr>
              <a:t>Un seul cluster Cloud MySQL (Aiven) et une seule instance FastAPI hébergent des centaines d'officines en réduisant les coûts.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Données Strictement Isolées par Pharmacie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AUTONOMIE JURIDIQUE &amp; COMMERCIALE TOTALE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Identité Fiscale OBR : </a:t>
            </a:r>
            <a:r>
              <a:rPr>
                <a:solidFill>
                  <a:srgbClr val="64748B"/>
                </a:solidFill>
              </a:rPr>
              <a:t>Chaque tenant a son propre NIF, RC, centre fiscal (DMC/DPMC) et ses clés d'API OBR privées.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Catalogue &amp; Prix de Vente : </a:t>
            </a:r>
            <a:r>
              <a:rPr>
                <a:solidFill>
                  <a:srgbClr val="64748B"/>
                </a:solidFill>
              </a:rPr>
              <a:t>Même pour un médicament commun (ex. Paracétamol), le prix d'achat, la marge et le prix public sont propres à l'officine.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Stocks &amp; Numéros de Lots : </a:t>
            </a:r>
            <a:r>
              <a:rPr>
                <a:solidFill>
                  <a:srgbClr val="64748B"/>
                </a:solidFill>
              </a:rPr>
              <a:t>Les lots fabricants reçus, dates de péremption et quantités physiques sont 100% individualisés.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Comptabilité &amp; Caisse : </a:t>
            </a:r>
            <a:r>
              <a:rPr>
                <a:solidFill>
                  <a:srgbClr val="64748B"/>
                </a:solidFill>
              </a:rPr>
              <a:t>Sessions de caisse, fonds de caisse, historiques des ventes et rapports Z totalement étanches.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Base Patients &amp; Créances : </a:t>
            </a:r>
            <a:r>
              <a:rPr>
                <a:solidFill>
                  <a:srgbClr val="64748B"/>
                </a:solidFill>
              </a:rPr>
              <a:t>Fichiers patients, conventions tiers-payant d'assurances locales et comptes crédits clients cloisonnés.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DU PARC D'OFFICINES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Administration Plateforme SaaS (Platform Admin) &amp;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ROLE : PLATFORM_ADMIN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Onboarding Pharmacie Express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SUPERVISION NATIONALE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Création en 1 clic : </a:t>
            </a:r>
            <a:r>
              <a:rPr>
                <a:solidFill>
                  <a:srgbClr val="64748B"/>
                </a:solidFill>
              </a:rPr>
              <a:t>Création immédiate de l'entité pharmacie, de son sous-domaine/tenant_id et de l'administrateur titulaire.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Initialisation automatique : </a:t>
            </a:r>
            <a:r>
              <a:rPr>
                <a:solidFill>
                  <a:srgbClr val="64748B"/>
                </a:solidFill>
              </a:rPr>
              <a:t>Génération des tables de configuration par défaut, catégories fiscales et plan comptable.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Attribution de Licence : </a:t>
            </a:r>
            <a:r>
              <a:rPr>
                <a:solidFill>
                  <a:srgbClr val="64748B"/>
                </a:solidFill>
              </a:rPr>
              <a:t>Génération du token de licence avec expiration et quotas paramétrés.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Supervision &amp; Télémétrie Globale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SUPERVISION NATIONALE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Monitoring des Tenants : </a:t>
            </a:r>
            <a:r>
              <a:rPr>
                <a:solidFill>
                  <a:srgbClr val="64748B"/>
                </a:solidFill>
              </a:rPr>
              <a:t>Tableau de bord central listant toutes les pharmacies actives, en essai ou suspendues.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Santé des Synchronisations : </a:t>
            </a:r>
            <a:r>
              <a:rPr>
                <a:solidFill>
                  <a:srgbClr val="64748B"/>
                </a:solidFill>
              </a:rPr>
              <a:t>Surveillance en temps réel des flux de synchronisation des caisses locales vers le cloud.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Journal d'Audit Système : </a:t>
            </a:r>
            <a:r>
              <a:rPr>
                <a:solidFill>
                  <a:srgbClr val="64748B"/>
                </a:solidFill>
              </a:rPr>
              <a:t>Traçabilité des opérations de plateforme et détection d'anomalies de sécurité.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Cycle de Vie &amp; Maintenance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SUPERVISION NATIONALE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Suspension / Réactivation : </a:t>
            </a:r>
            <a:r>
              <a:rPr>
                <a:solidFill>
                  <a:srgbClr val="64748B"/>
                </a:solidFill>
              </a:rPr>
              <a:t>Blocage immédiat d'accès en cas de non-renouvellement de licence sans perte de données.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Sauvegardes Fédérées : </a:t>
            </a:r>
            <a:r>
              <a:rPr>
                <a:solidFill>
                  <a:srgbClr val="64748B"/>
                </a:solidFill>
              </a:rPr>
              <a:t>Snapshots quotidiens automatiques de la base de données avec restauration par tenant.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Mises à Niveau Transparentes : </a:t>
            </a:r>
            <a:r>
              <a:rPr>
                <a:solidFill>
                  <a:srgbClr val="64748B"/>
                </a:solidFill>
              </a:rPr>
              <a:t>Migrations de schémas Alembic automatiques appliquées à l'ensemble des tenants.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MODÈLE ÉCONOMIQUE &amp; DROITS D'USAGE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Gestion des Licences, Quotas &amp; Abonnements par Pharmacie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LICENSE.PY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Offre Starter / Solo</a:t>
            </a:r>
          </a:p>
          <a:p>
            <a:pPr>
              <a:spcAft>
                <a:spcPts val="400"/>
              </a:spcAft>
              <a:defRPr sz="900" i="1">
                <a:solidFill>
                  <a:srgbClr val="0D9488"/>
                </a:solidFill>
                <a:latin typeface="Arial"/>
              </a:defRPr>
            </a:pPr>
            <a:r>
              <a:t>Petites officines &amp; dépôts pharmaceutiques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1 Caisse active simultanée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Jusqu'à 3 utilisateurs créés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Module POS + Déstockage FEFO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Facturation OBR locale &amp; sync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Support standard par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Offre Pro / Officine</a:t>
            </a:r>
          </a:p>
          <a:p>
            <a:pPr>
              <a:spcAft>
                <a:spcPts val="400"/>
              </a:spcAft>
              <a:defRPr sz="900" i="1">
                <a:solidFill>
                  <a:srgbClr val="2563EB"/>
                </a:solidFill>
                <a:latin typeface="Arial"/>
              </a:defRPr>
            </a:pPr>
            <a:r>
              <a:t>Pharmacies moyennes à fort passage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Jusqu'à 4 Caisses en réseau local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Utilisateurs illimités avec rôles RBAC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Module Tiers-Payant &amp; Assurances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Gestion des crédits clients &amp; alertes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Module Achats &amp; Réceptions fournisseurs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Offre Entreprise / Réseau</a:t>
            </a:r>
          </a:p>
          <a:p>
            <a:pPr>
              <a:spcAft>
                <a:spcPts val="400"/>
              </a:spcAft>
              <a:defRPr sz="900" i="1">
                <a:solidFill>
                  <a:srgbClr val="7C3AED"/>
                </a:solidFill>
                <a:latin typeface="Arial"/>
              </a:defRPr>
            </a:pPr>
            <a:r>
              <a:t>Groupements de pharmacies &amp; cliniques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Caisses et succursales illimitées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Consolidation comptable multi-sites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Passerelle OBR haute disponibilité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Reporting prédictif par IA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Accompagnement 24/7 &amp; SLA dédié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DES UTILISATEURS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Contrôle d'Accès Basé sur les Rôles (RBAC) &amp; Sécurité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ISOLATION RÔLES &amp;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Hiérarchie des Rôles au sein du Tenant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SÉPARATION STRICTE DES TÂCHES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Pharmacien Titulaire (Admin) : </a:t>
            </a:r>
            <a:r>
              <a:rPr>
                <a:solidFill>
                  <a:srgbClr val="64748B"/>
                </a:solidFill>
              </a:rPr>
              <a:t>Accès complet aux paramètres du tenant, configuration fiscale OBR, bilans financiers, marges, inventaires et gestion des employés.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Pharmacien Adjoint / Préparateur : </a:t>
            </a:r>
            <a:r>
              <a:rPr>
                <a:solidFill>
                  <a:srgbClr val="64748B"/>
                </a:solidFill>
              </a:rPr>
              <a:t>Accès à la délivrance sur ordonnance, validation des commandes fournisseurs, ajustement des stocks et réclamations.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Gestionnaire de Stock / Magasinier : </a:t>
            </a:r>
            <a:r>
              <a:rPr>
                <a:solidFill>
                  <a:srgbClr val="64748B"/>
                </a:solidFill>
              </a:rPr>
              <a:t>Accès exclusif aux réceptions de commandes, pointage des lots/péremptions, inventaires et fiches fournisseurs.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Caissier / Vendeur Comptoir : </a:t>
            </a:r>
            <a:r>
              <a:rPr>
                <a:solidFill>
                  <a:srgbClr val="64748B"/>
                </a:solidFill>
              </a:rPr>
              <a:t>Accès restreint au Point de Vente (POS), à sa propre session de caisse (ouverture/fermeture) et recherche produits.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Sécurisation Technique des Sessions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CHIFFREMENT &amp; INTÉGRITÉ JWT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Tokens JWT Signés : </a:t>
            </a:r>
            <a:r>
              <a:rPr>
                <a:solidFill>
                  <a:srgbClr val="64748B"/>
                </a:solidFill>
              </a:rPr>
              <a:t>Chaque token d'accès contient le user_id, le rôle et le tenant_id de rattachement.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Validation Cryptographique : </a:t>
            </a:r>
            <a:r>
              <a:rPr>
                <a:solidFill>
                  <a:srgbClr val="64748B"/>
                </a:solidFill>
              </a:rPr>
              <a:t>À chaque appel API, le backend valide la signature JWT et vérifie que l'utilisateur appartient au tenant sollicité.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Hachage Sécurisé bcrypt : </a:t>
            </a:r>
            <a:r>
              <a:rPr>
                <a:solidFill>
                  <a:srgbClr val="64748B"/>
                </a:solidFill>
              </a:rPr>
              <a:t>Mots de passe protégés avec salage individuel et algorithme bcrypt certifié.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Révocation &amp; Expiration : </a:t>
            </a:r>
            <a:r>
              <a:rPr>
                <a:solidFill>
                  <a:srgbClr val="64748B"/>
                </a:solidFill>
              </a:rPr>
              <a:t>Tokens à durée de vie limitée (8h par défaut) avec régénération sécurisée par Refresh Token.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Audit des Connexions : </a:t>
            </a:r>
            <a:r>
              <a:rPr>
                <a:solidFill>
                  <a:srgbClr val="64748B"/>
                </a:solidFill>
              </a:rPr>
              <a:t>Journalisation de chaque tentative de connexion et verrouillage en cas de requêtes suspectes.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RÉFÉRENTIEL PRODUITS &amp; PRIX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Catalogue Médicaments &amp; Politiques Tarifaires par Pharmacie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MEDICINE_PRICING.PY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Fiche Médicament Complète &amp; Fiscale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DONNÉES CLINIQUES &amp; FISCALES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Identification clinique : </a:t>
            </a:r>
            <a:r>
              <a:rPr>
                <a:solidFill>
                  <a:srgbClr val="64748B"/>
                </a:solidFill>
              </a:rPr>
              <a:t>Dénomination Commune Internationale (DCI), Nom commercial, Forme (comprimé, sirop...), Dosage.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Codes d'identification : </a:t>
            </a:r>
            <a:r>
              <a:rPr>
                <a:solidFill>
                  <a:srgbClr val="64748B"/>
                </a:solidFill>
              </a:rPr>
              <a:t>Code CIP normalisé et code-barres scannable par douchette à l'encaissement.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Classification Fiscale OBR : </a:t>
            </a:r>
            <a:r>
              <a:rPr>
                <a:solidFill>
                  <a:srgbClr val="64748B"/>
                </a:solidFill>
              </a:rPr>
              <a:t>Affectation du régime fiscal : Catégorie 'exempt' (TVA 0% pour médicaments) ou 'standard' (TVA 18% pour cosmétiques/parapharmacie).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Contraintes de délivrance : </a:t>
            </a:r>
            <a:r>
              <a:rPr>
                <a:solidFill>
                  <a:srgbClr val="64748B"/>
                </a:solidFill>
              </a:rPr>
              <a:t>Indication 'Sur ordonnance obligatoire' ou 'Vente libre OTC', avec alertes au comptoir.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Seuils de sécurité : </a:t>
            </a:r>
            <a:r>
              <a:rPr>
                <a:solidFill>
                  <a:srgbClr val="64748B"/>
                </a:solidFill>
              </a:rPr>
              <a:t>Stock minimum d'alerte et stock optimal configurables individuellement.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Autonomie Tarifaire par Officine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● MARGES &amp; RENTABILITÉ DÉDIÉES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Tarification par Tenant : </a:t>
            </a:r>
            <a:r>
              <a:rPr>
                <a:solidFill>
                  <a:srgbClr val="64748B"/>
                </a:solidFill>
              </a:rPr>
              <a:t>Chaque pharmacie applique ses propres coefficients de marge et prix de vente au public (TTC).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Calcul du Coût Moyen (CUMP) : </a:t>
            </a:r>
            <a:r>
              <a:rPr>
                <a:solidFill>
                  <a:srgbClr val="64748B"/>
                </a:solidFill>
              </a:rPr>
              <a:t>Recalcul automatique du Coût Unitaire Moyen Pondéré lors de chaque nouvelle réception de stock.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Grilles Tarifaires Multiples : </a:t>
            </a:r>
            <a:r>
              <a:rPr>
                <a:solidFill>
                  <a:srgbClr val="64748B"/>
                </a:solidFill>
              </a:rPr>
              <a:t>Prix public comptoir, tarifs conventionnés pour mutuelles/assurances et prix de gros si applicable.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Historique d'Évolution des Prix : </a:t>
            </a:r>
            <a:r>
              <a:rPr>
                <a:solidFill>
                  <a:srgbClr val="64748B"/>
                </a:solidFill>
              </a:rPr>
              <a:t>Traçabilité des modifications de tarifs avec motif et utilisateur responsable.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Contrôle des Remises : </a:t>
            </a:r>
            <a:r>
              <a:rPr>
                <a:solidFill>
                  <a:srgbClr val="64748B"/>
                </a:solidFill>
              </a:rPr>
              <a:t>Plafonnement des remises autorisées par profil utilisateur (ex. caissier max 5%, titulaire libre).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CYCLE D'ACHAT &amp; RÉCEPTIONS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Achats, Gestion Fournisseurs &amp; Réapprovisionnement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SUPPLIERS &amp; RESTOCK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Fournisseurs Dédiés</a:t>
            </a:r>
          </a:p>
          <a:p>
            <a:pPr>
              <a:spcAft>
                <a:spcPts val="400"/>
              </a:spcAft>
              <a:defRPr sz="900" i="1">
                <a:solidFill>
                  <a:srgbClr val="0D9488"/>
                </a:solidFill>
                <a:latin typeface="Arial"/>
              </a:defRPr>
            </a:pPr>
            <a:r>
              <a:t>Répertoire propre au tenant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Fiches grossistes répartiteurs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Conditions de règlement &amp; délais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Suivi des dettes fournisseurs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Échéancier des paiements à venir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Bon de Commande</a:t>
            </a:r>
          </a:p>
          <a:p>
            <a:pPr>
              <a:spcAft>
                <a:spcPts val="400"/>
              </a:spcAft>
              <a:defRPr sz="900" i="1">
                <a:solidFill>
                  <a:srgbClr val="2563EB"/>
                </a:solidFill>
                <a:latin typeface="Arial"/>
              </a:defRPr>
            </a:pPr>
            <a:r>
              <a:t>Émission d'achat assistée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Calcul auto basé sur le stock d'alerte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Historique des consommations moyennes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Ajout de lignes &amp; quantités souhaitées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Génération du bon de commande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Réception &amp; Contrôle</a:t>
            </a:r>
          </a:p>
          <a:p>
            <a:pPr>
              <a:spcAft>
                <a:spcPts val="400"/>
              </a:spcAft>
              <a:defRPr sz="900" i="1">
                <a:solidFill>
                  <a:srgbClr val="16A34A"/>
                </a:solidFill>
                <a:latin typeface="Arial"/>
              </a:defRPr>
            </a:pPr>
            <a:r>
              <a:t>Entrée en stock traçable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Pointage physique du Bon de Livraison (BL)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Saisie obligatoire : N° de Lot &amp; DLUO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Mise à jour immédiate des quantités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Recalcul automatique du prix de revient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PHARMACEUTIQUE DES STOCKS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Traçabilité des Lots &amp; Déstockage Automatique FEFO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STOCK &amp; BATCH.PY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L'Algorithme FEFO (First Expired, First Out)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  <a:latin typeface="Arial"/>
              </a:defRPr>
            </a:pPr>
            <a:r>
              <a:t>● RÈGLE SANITAIRE INTERNATIONALE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Règle de sortie sanitaire : </a:t>
            </a:r>
            <a:r>
              <a:rPr>
                <a:solidFill>
                  <a:srgbClr val="64748B"/>
                </a:solidFill>
              </a:rPr>
              <a:t>Le système sélectionne et déstocke automatiquement le lot dont la date de péremption est la plus proche.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Zéro intervention manuelle : </a:t>
            </a:r>
            <a:r>
              <a:rPr>
                <a:solidFill>
                  <a:srgbClr val="64748B"/>
                </a:solidFill>
              </a:rPr>
              <a:t>Le vendeur scanne le code-barres générique, le système se charge d'affecter le lot prioritaire.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Multi-lots transparent : </a:t>
            </a:r>
            <a:r>
              <a:rPr>
                <a:solidFill>
                  <a:srgbClr val="64748B"/>
                </a:solidFill>
              </a:rPr>
              <a:t>Si la quantité vendue chevauche deux lots, PharmaGest ventile automatiquement la sortie entre les lots.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Intégrité physique : </a:t>
            </a:r>
            <a:r>
              <a:rPr>
                <a:solidFill>
                  <a:srgbClr val="64748B"/>
                </a:solidFill>
              </a:rPr>
              <a:t>Affichage clair de l'emplacement et du numéro de lot pour vérification rapide par le préparateur.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Périmés bloqués : </a:t>
            </a:r>
            <a:r>
              <a:rPr>
                <a:solidFill>
                  <a:srgbClr val="64748B"/>
                </a:solidFill>
              </a:rPr>
              <a:t>Blocage strict de toute délivrance pour un lot ayant dépassé sa date limite d'utilisation.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Surveillance Préventive des Péremptions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● ZÉRO GÂCHIS PHARMACEUTIQUE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Tableau de Bord des Alertes : </a:t>
            </a:r>
            <a:r>
              <a:rPr>
                <a:solidFill>
                  <a:srgbClr val="64748B"/>
                </a:solidFill>
              </a:rPr>
              <a:t>Vue centralisée catégorisant le stock en 4 états : Optimal, À surveiller (90j), Urgent (30j), Périmé.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Valorisation du Risque : </a:t>
            </a:r>
            <a:r>
              <a:rPr>
                <a:solidFill>
                  <a:srgbClr val="64748B"/>
                </a:solidFill>
              </a:rPr>
              <a:t>Chiffrage instantané de la valeur financière des articles menacés de péremption.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Actions Correctives : </a:t>
            </a:r>
            <a:r>
              <a:rPr>
                <a:solidFill>
                  <a:srgbClr val="64748B"/>
                </a:solidFill>
              </a:rPr>
              <a:t>Retours fournisseurs négociés, promotions autorisées ou mise en quarantaine immédiate.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Inventaires Tournants : </a:t>
            </a:r>
            <a:r>
              <a:rPr>
                <a:solidFill>
                  <a:srgbClr val="64748B"/>
                </a:solidFill>
              </a:rPr>
              <a:t>Module de comptage physique régulier avec calcul d'écart théorique/réel et ajustement justifié.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Isolation par Pharmacie : </a:t>
            </a:r>
            <a:r>
              <a:rPr>
                <a:solidFill>
                  <a:srgbClr val="64748B"/>
                </a:solidFill>
              </a:rPr>
              <a:t>Aucune confusion possible entre les stocks de différentes officines du même groupe.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EXPÉRIENCE DE VENTE COMPTOIR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Point de Vente (POS) &amp; Encaissement Comptoir Multi-Caisses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POS &amp; SALES.PY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Vitesse &amp; Fluidité Comptoir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PERFORMANCE COMPTOIR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Scan Code-barres ultra-rapide : </a:t>
            </a:r>
            <a:r>
              <a:rPr>
                <a:solidFill>
                  <a:srgbClr val="64748B"/>
                </a:solidFill>
              </a:rPr>
              <a:t>Prise en charge de toutes les douchettes USB et Bluetooth.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Recherche intelligente : </a:t>
            </a:r>
            <a:r>
              <a:rPr>
                <a:solidFill>
                  <a:srgbClr val="64748B"/>
                </a:solidFill>
              </a:rPr>
              <a:t>Recherche instantanée par DCI, nom commercial ou code interne.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Paniers multiples en attente : </a:t>
            </a:r>
            <a:r>
              <a:rPr>
                <a:solidFill>
                  <a:srgbClr val="64748B"/>
                </a:solidFill>
              </a:rPr>
              <a:t>Mise en attente d'un panier si un patient part chercher un justificatif.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Multi-Modes de Paiement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PERFORMANCE COMPTOIR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Espèces (Cash) : </a:t>
            </a:r>
            <a:r>
              <a:rPr>
                <a:solidFill>
                  <a:srgbClr val="64748B"/>
                </a:solidFill>
              </a:rPr>
              <a:t>Calcul automatique du montant reçu et de la monnaie exacte à rendre.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Mobile Money : </a:t>
            </a:r>
            <a:r>
              <a:rPr>
                <a:solidFill>
                  <a:srgbClr val="64748B"/>
                </a:solidFill>
              </a:rPr>
              <a:t>Paiements via Lumicash, EcoCash, Wave, Orange Money et MoMo.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Cartes Bancaires &amp; Bons : </a:t>
            </a:r>
            <a:r>
              <a:rPr>
                <a:solidFill>
                  <a:srgbClr val="64748B"/>
                </a:solidFill>
              </a:rPr>
              <a:t>Encaissement TPE et bons d'achat d'organismes partenaires.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Impression &amp; Conformité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PERFORMANCE COMPTOIR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Tickets Thermiques 80mm / 58mm : </a:t>
            </a:r>
            <a:r>
              <a:rPr>
                <a:solidFill>
                  <a:srgbClr val="64748B"/>
                </a:solidFill>
              </a:rPr>
              <a:t>Impression ultra-rapide directe via imprimante ESC/POS.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Factures Format A4 : </a:t>
            </a:r>
            <a:r>
              <a:rPr>
                <a:solidFill>
                  <a:srgbClr val="64748B"/>
                </a:solidFill>
              </a:rPr>
              <a:t>Génération de factures officielles pour entreprises avec en-tête du tenant.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Mentions Légales : </a:t>
            </a:r>
            <a:r>
              <a:rPr>
                <a:solidFill>
                  <a:srgbClr val="64748B"/>
                </a:solidFill>
              </a:rPr>
              <a:t>QR Code de contrôle fiscal, NIF, signature et ventilation des taxes.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SÉCURITÉ FINANCIÈRE &amp; AUDIT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Sessions de Caisse, Contrôle Financier &amp; Rapport 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CASH_REGISTER.PY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Ouverture de Caisse</a:t>
            </a:r>
          </a:p>
          <a:p>
            <a:pPr>
              <a:spcAft>
                <a:spcPts val="400"/>
              </a:spcAft>
              <a:defRPr sz="900" i="1">
                <a:solidFill>
                  <a:srgbClr val="0D9488"/>
                </a:solidFill>
                <a:latin typeface="Arial"/>
              </a:defRPr>
            </a:pPr>
            <a:r>
              <a:t>Début de vacation du caissier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Saisie obligatoire du fond de caisse initial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Association nominative au caissier connecté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Association au poste physique (Caisse 1, 2...)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Horodatage certifié de prise de poste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Opérations en Session</a:t>
            </a:r>
          </a:p>
          <a:p>
            <a:pPr>
              <a:spcAft>
                <a:spcPts val="400"/>
              </a:spcAft>
              <a:defRPr sz="900" i="1">
                <a:solidFill>
                  <a:srgbClr val="2563EB"/>
                </a:solidFill>
                <a:latin typeface="Arial"/>
              </a:defRPr>
            </a:pPr>
            <a:r>
              <a:t>Traçabilité des flux d'espèces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Enregistrement continu des encaissements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Saisie des sorties exceptionnelles de caisse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Totalisation dynamique par mode de paiement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Verrouillage en cas d'absence du caissier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Clôture &amp; Rapport Z</a:t>
            </a:r>
          </a:p>
          <a:p>
            <a:pPr>
              <a:spcAft>
                <a:spcPts val="400"/>
              </a:spcAft>
              <a:defRPr sz="900" i="1">
                <a:solidFill>
                  <a:srgbClr val="7C3AED"/>
                </a:solidFill>
                <a:latin typeface="Arial"/>
              </a:defRPr>
            </a:pPr>
            <a:r>
              <a:t>Bilan &amp; réconciliation finale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Comptage physique des espèces à l'aveugle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Calcul instantané de l'écart (Excédent / Manquant)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Génération du Rapport Z inviolable en PDF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Archivage pour la comptabilité du tenant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DU TIERS-PAYANT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Assurances, Mutuelles &amp; Conventions Tiers-Payant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CONVENTIONS LOCALES DU 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Paramétrage des Assurances par Tenant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ACCORDS LOCAUX PARTICULIERS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Conventions Partenaires : </a:t>
            </a:r>
            <a:r>
              <a:rPr>
                <a:solidFill>
                  <a:srgbClr val="64748B"/>
                </a:solidFill>
              </a:rPr>
              <a:t>Chaque pharmacie enregistre ses organismes d'assurance partenaires (Ascoma, Gras Savoye, CNAM, etc.).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Taux de Prise en Charge Flexibles : </a:t>
            </a:r>
            <a:r>
              <a:rPr>
                <a:solidFill>
                  <a:srgbClr val="64748B"/>
                </a:solidFill>
              </a:rPr>
              <a:t>Configuration de barèmes par assurance ou par catégorie de produits (ex. 80% assurance / 20% patient).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Gestion des Plafonds &amp; Exclusions : </a:t>
            </a:r>
            <a:r>
              <a:rPr>
                <a:solidFill>
                  <a:srgbClr val="64748B"/>
                </a:solidFill>
              </a:rPr>
              <a:t>Prise en charge conditionnelle selon le type de produit (médicament remboursable ou non).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Matricule &amp; Informations Assuré : </a:t>
            </a:r>
            <a:r>
              <a:rPr>
                <a:solidFill>
                  <a:srgbClr val="64748B"/>
                </a:solidFill>
              </a:rPr>
              <a:t>Saisie du numéro d'assuré, nom de l'ayant droit et référence du bon de prise en charge.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Facturation Hybride : </a:t>
            </a:r>
            <a:r>
              <a:rPr>
                <a:solidFill>
                  <a:srgbClr val="64748B"/>
                </a:solidFill>
              </a:rPr>
              <a:t>Ventilation instantanée au ticket de caisse : part patient encaissée immédiatement, part mutuelle en créance.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Télétransmission &amp; Rapprochement Financier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  <a:latin typeface="Arial"/>
              </a:defRPr>
            </a:pPr>
            <a:r>
              <a:t>● SUIVI PRÉCIS DE LA TRÉSORERIE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Bordereaux Récapitulatifs : </a:t>
            </a:r>
            <a:r>
              <a:rPr>
                <a:solidFill>
                  <a:srgbClr val="64748B"/>
                </a:solidFill>
              </a:rPr>
              <a:t>Génération automatique des bordereaux de facturation périodiques par compagnie d'assurance.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Export pour Remboursement : </a:t>
            </a:r>
            <a:r>
              <a:rPr>
                <a:solidFill>
                  <a:srgbClr val="64748B"/>
                </a:solidFill>
              </a:rPr>
              <a:t>Fichiers de transmission conformes aux formats exigés par les assureurs (PDF détaillé, Excel).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Suivi du Reste à Recouvrer : </a:t>
            </a:r>
            <a:r>
              <a:rPr>
                <a:solidFill>
                  <a:srgbClr val="64748B"/>
                </a:solidFill>
              </a:rPr>
              <a:t>Tableau de suivi des factures en attente de remboursement avec indicateurs d'antériorité.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Lettrage des Virements : </a:t>
            </a:r>
            <a:r>
              <a:rPr>
                <a:solidFill>
                  <a:srgbClr val="64748B"/>
                </a:solidFill>
              </a:rPr>
              <a:t>Rapprochement et validation des paiements reçus des mutuelles avec lettrage des créances.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Séparation Totale : </a:t>
            </a:r>
            <a:r>
              <a:rPr>
                <a:solidFill>
                  <a:srgbClr val="64748B"/>
                </a:solidFill>
              </a:rPr>
              <a:t>Aucun risque de mélanger les créances d'assurance entre pharmacies différentes.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DE LA RELATION PATIENT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Fichier Patients, Clients &amp; Gestion des Crédits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CUSTOMERS &amp; CREDITS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Dossier Patient &amp; Historique Clinique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SUIVI PHARMACEUTIQUE ÉTHIQUE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Fiche Complète Patient : </a:t>
            </a:r>
            <a:r>
              <a:rPr>
                <a:solidFill>
                  <a:srgbClr val="64748B"/>
                </a:solidFill>
              </a:rPr>
              <a:t>Coordonnées, NIF (pour entreprises/sociétés), antécédents et allergies éventuelles.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Historique des Délivrances : </a:t>
            </a:r>
            <a:r>
              <a:rPr>
                <a:solidFill>
                  <a:srgbClr val="64748B"/>
                </a:solidFill>
              </a:rPr>
              <a:t>Journal chronologique complet de tous les médicaments délivrés au patient.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Archivage des Ordonnances : </a:t>
            </a:r>
            <a:r>
              <a:rPr>
                <a:solidFill>
                  <a:srgbClr val="64748B"/>
                </a:solidFill>
              </a:rPr>
              <a:t>Traçabilité des prescriptions médicales, prescripteurs et dates de validité.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Recherche Rapide au Comptoir : </a:t>
            </a:r>
            <a:r>
              <a:rPr>
                <a:solidFill>
                  <a:srgbClr val="64748B"/>
                </a:solidFill>
              </a:rPr>
              <a:t>Identification immédiate par numéro de téléphone, nom ou carte de fidélité.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Protection des Données Médicales : </a:t>
            </a:r>
            <a:r>
              <a:rPr>
                <a:solidFill>
                  <a:srgbClr val="64748B"/>
                </a:solidFill>
              </a:rPr>
              <a:t>Confidentialité garantie, accessible uniquement aux professionnels de santé de l'officine.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Gestion Rigoureuse des Crédits Clients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● SÉCURISATION DES CRÉANCES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Autorisation de Crédit Contrôlée : </a:t>
            </a:r>
            <a:r>
              <a:rPr>
                <a:solidFill>
                  <a:srgbClr val="64748B"/>
                </a:solidFill>
              </a:rPr>
              <a:t>Définition d'un plafond maximal d'endettement par client validé par le titulaire.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Blocage Automatique : </a:t>
            </a:r>
            <a:r>
              <a:rPr>
                <a:solidFill>
                  <a:srgbClr val="64748B"/>
                </a:solidFill>
              </a:rPr>
              <a:t>Interdiction de délivrance à crédit dès que le plafond est dépassé sans dérogation formelle.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Règlements Échelonnés : </a:t>
            </a:r>
            <a:r>
              <a:rPr>
                <a:solidFill>
                  <a:srgbClr val="64748B"/>
                </a:solidFill>
              </a:rPr>
              <a:t>Possibilité pour le client de verser des acomptes avec génération de reçus de paiement de dette.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Rappels &amp; Relances : </a:t>
            </a:r>
            <a:r>
              <a:rPr>
                <a:solidFill>
                  <a:srgbClr val="64748B"/>
                </a:solidFill>
              </a:rPr>
              <a:t>États récapitulatifs pour le suivi des créances impayées et relances clients.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Intégration Comptable : </a:t>
            </a:r>
            <a:r>
              <a:rPr>
                <a:solidFill>
                  <a:srgbClr val="64748B"/>
                </a:solidFill>
              </a:rPr>
              <a:t>Impact direct et transparent sur la balance de trésorerie du tenant.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RÉGULATION &amp; FACTURATION ÉLECTRONIQUE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Conformité Fiscale OBR EBMS V0.5 (Burundi)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OBR.PY (PORT 9443)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Configuration Fiscale &amp; Passerelle OBR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HOMOLOGATION EBMS OFFICIELLE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Identifiants Fiscaux du Tenant : </a:t>
            </a:r>
            <a:r>
              <a:rPr>
                <a:solidFill>
                  <a:srgbClr val="64748B"/>
                </a:solidFill>
              </a:rPr>
              <a:t>Chaque officine paramètre son propre NIF, RC, Centre Fiscal (DMC/DPMC) et clés d'API OBR.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Passerelle Directe Port 9443 : </a:t>
            </a:r>
            <a:r>
              <a:rPr>
                <a:solidFill>
                  <a:srgbClr val="64748B"/>
                </a:solidFill>
              </a:rPr>
              <a:t>Liaison chiffrée avec le serveur officiel OBR EBMS (https://ebms.obr.gov.bi:9443/ebms_api).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Nettoyage des Payloads (clean_nulls) : </a:t>
            </a:r>
            <a:r>
              <a:rPr>
                <a:solidFill>
                  <a:srgbClr val="64748B"/>
                </a:solidFill>
              </a:rPr>
              <a:t>Suppression stricte des clés nulles pour garantir la validation du schéma EBMS V0.5.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Signature Numérique en Temps Réel : </a:t>
            </a:r>
            <a:r>
              <a:rPr>
                <a:solidFill>
                  <a:srgbClr val="64748B"/>
                </a:solidFill>
              </a:rPr>
              <a:t>Calcul de la signature électronique officielle OBR et attribution du numéro fiscal unique.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QR Code Fiscal Réglementaire : </a:t>
            </a:r>
            <a:r>
              <a:rPr>
                <a:solidFill>
                  <a:srgbClr val="64748B"/>
                </a:solidFill>
              </a:rPr>
              <a:t>Génération automatique du QR Code officiel scannable sur chaque ticket et facture.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Avoirs, Annulations &amp; Supervision Fiscale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TRAÇABILITÉ FISCALE INVIOLABLE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Factures d'Avoir (Credit Notes) : </a:t>
            </a:r>
            <a:r>
              <a:rPr>
                <a:solidFill>
                  <a:srgbClr val="64748B"/>
                </a:solidFill>
              </a:rPr>
              <a:t>Annulation de vente strictement encadrée avec motif légal obligatoire (`cn_motif`).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Contrôle d'Inviolabilité : </a:t>
            </a:r>
            <a:r>
              <a:rPr>
                <a:solidFill>
                  <a:srgbClr val="64748B"/>
                </a:solidFill>
              </a:rPr>
              <a:t>Interdiction absolue de modifier ou supprimer une facture déjà certifiée fiscalement.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Vérification NIF Client : </a:t>
            </a:r>
            <a:r>
              <a:rPr>
                <a:solidFill>
                  <a:srgbClr val="64748B"/>
                </a:solidFill>
              </a:rPr>
              <a:t>Interrogation instantanée de l'API OBR pour valider la conformité fiscale des clients institutionnels.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Supervision des Compteurs Fiscaux : </a:t>
            </a:r>
            <a:r>
              <a:rPr>
                <a:solidFill>
                  <a:srgbClr val="64748B"/>
                </a:solidFill>
              </a:rPr>
              <a:t>Suivi en direct des factures validées, en attente et rejets éventuels.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Environnement Double : </a:t>
            </a:r>
            <a:r>
              <a:rPr>
                <a:solidFill>
                  <a:srgbClr val="64748B"/>
                </a:solidFill>
              </a:rPr>
              <a:t>Bascule fluide entre mode 'Sandbox' (homologation) et mode 'Production'.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HAUTE DISPONIBILITÉ &amp; MODE HORS-LIGNE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Résilience Offline-First &amp; Moteur de Synchronisation Hybride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SQLITE WAL + CLOUD MYSQL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Vente Continue Hors-Ligne</a:t>
            </a:r>
          </a:p>
          <a:p>
            <a:pPr>
              <a:spcAft>
                <a:spcPts val="400"/>
              </a:spcAft>
              <a:defRPr sz="900" i="1">
                <a:solidFill>
                  <a:srgbClr val="0D9488"/>
                </a:solidFill>
                <a:latin typeface="Arial"/>
              </a:defRPr>
            </a:pPr>
            <a:r>
              <a:t>Coupure réseau = 0 impact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Encaissement 100% fonctionnel sur SQLite local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Moteur FEFO opérationnel en local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Signature fiscale de secours ('SIGNÉ LOCAL')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Impression immédiate du ticket de caisse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File d'Attente SyncQueue</a:t>
            </a:r>
          </a:p>
          <a:p>
            <a:pPr>
              <a:spcAft>
                <a:spcPts val="400"/>
              </a:spcAft>
              <a:defRPr sz="900" i="1">
                <a:solidFill>
                  <a:srgbClr val="D97706"/>
                </a:solidFill>
                <a:latin typeface="Arial"/>
              </a:defRPr>
            </a:pPr>
            <a:r>
              <a:t>Mémorisation des événements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Consignation ordonnée des transactions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Horodatage et identifiants uniques UUID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Stockage sécurisé des factures en attente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Protection totale contre la perte de données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719072"/>
            <a:ext cx="251460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Réconciliation Cloud</a:t>
            </a:r>
          </a:p>
          <a:p>
            <a:pPr>
              <a:spcAft>
                <a:spcPts val="400"/>
              </a:spcAft>
              <a:defRPr sz="900" i="1">
                <a:solidFill>
                  <a:srgbClr val="16A34A"/>
                </a:solidFill>
                <a:latin typeface="Arial"/>
              </a:defRPr>
            </a:pPr>
            <a:r>
              <a:t>Dès retour de la connexion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Détection automatique du réseau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Transmission idempotente sans doublon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Téléversement automatique vers l'OBR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• Mise à jour des catalogues depuis le Cloud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PILOTAGE STRATÉGIQUE DU TENANT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Tableaux de Bord Analytiques &amp; Visualisations Graphiques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DASHBOARD EN TEMPS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Indicateurs Clés de Performance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VISUALISATION AVANCÉE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Chiffre d'Affaires du Jour : </a:t>
            </a:r>
            <a:r>
              <a:rPr>
                <a:solidFill>
                  <a:srgbClr val="64748B"/>
                </a:solidFill>
              </a:rPr>
              <a:t>Total des encaissements actualisé en temps réel.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Marge Brute Réalisée : </a:t>
            </a:r>
            <a:r>
              <a:rPr>
                <a:solidFill>
                  <a:srgbClr val="64748B"/>
                </a:solidFill>
              </a:rPr>
              <a:t>Bénéfice net commercial dégagé sur la période.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Nombre de Transactions : </a:t>
            </a:r>
            <a:r>
              <a:rPr>
                <a:solidFill>
                  <a:srgbClr val="64748B"/>
                </a:solidFill>
              </a:rPr>
              <a:t>Fréquentation du comptoir et panier moyen calculé.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Graphiques Donut Interactifs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VISUALISATION AVANCÉE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Top 5 Produits les Plus Vendus : </a:t>
            </a:r>
            <a:r>
              <a:rPr>
                <a:solidFill>
                  <a:srgbClr val="64748B"/>
                </a:solidFill>
              </a:rPr>
              <a:t>Répartition visuelle en unités et en valeur monétaire.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Santé Globale du Stock : </a:t>
            </a:r>
            <a:r>
              <a:rPr>
                <a:solidFill>
                  <a:srgbClr val="64748B"/>
                </a:solidFill>
              </a:rPr>
              <a:t>Proportion des articles : Optimal, Alerte Stock, Péremption proche.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Compteurs Centraux Dynamiques : </a:t>
            </a:r>
            <a:r>
              <a:rPr>
                <a:solidFill>
                  <a:srgbClr val="64748B"/>
                </a:solidFill>
              </a:rPr>
              <a:t>Survol interactif affichant le détail d'une catégorie.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Valorisation Financière du Stock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VISUALISATION AVANCÉE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Valeur d'Achat (PUMP) : </a:t>
            </a:r>
            <a:r>
              <a:rPr>
                <a:solidFill>
                  <a:srgbClr val="64748B"/>
                </a:solidFill>
              </a:rPr>
              <a:t>Capital total immobilisé en stock valorisé au prix d'achat.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Valeur de Vente Public : </a:t>
            </a:r>
            <a:r>
              <a:rPr>
                <a:solidFill>
                  <a:srgbClr val="64748B"/>
                </a:solidFill>
              </a:rPr>
              <a:t>Chiffre d'affaires potentiel projeté si tout le stock est vendu.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Marge Potentielle Globale : </a:t>
            </a:r>
            <a:r>
              <a:rPr>
                <a:solidFill>
                  <a:srgbClr val="64748B"/>
                </a:solidFill>
              </a:rPr>
              <a:t>Barre segmentée mettant en valeur la plus-value prévisionnelle.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SÉCURITÉ, CONTRÔLE &amp; EXPORTS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Comptabilité Officinale, Piste d'Audit &amp; Journal Inviolable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ACCOUNTING &amp; AUDIT_LOG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Journal des Suppressions Inviolable (DeletionLog)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PISTE D'AUDIT INVIOLABLE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Interdiction des suppressions physiques : </a:t>
            </a:r>
            <a:r>
              <a:rPr>
                <a:solidFill>
                  <a:srgbClr val="64748B"/>
                </a:solidFill>
              </a:rPr>
              <a:t>Aucune donnée financière ou médicale critique n'est effacée directement de la base.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Enregistrement automatique : </a:t>
            </a:r>
            <a:r>
              <a:rPr>
                <a:solidFill>
                  <a:srgbClr val="64748B"/>
                </a:solidFill>
              </a:rPr>
              <a:t>Chaque tentative de suppression ou ajustement sensible déclenche l'écriture dans `deletion_logs`.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Contenu archivé : </a:t>
            </a:r>
            <a:r>
              <a:rPr>
                <a:solidFill>
                  <a:srgbClr val="64748B"/>
                </a:solidFill>
              </a:rPr>
              <a:t>Horodatage à la seconde, user_id, rôle, motif obligatoire et capture JSON de l'entité supprimée.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Inaltérabilité : </a:t>
            </a:r>
            <a:r>
              <a:rPr>
                <a:solidFill>
                  <a:srgbClr val="64748B"/>
                </a:solidFill>
              </a:rPr>
              <a:t>Table protégée en écriture seule (Append-Only), accessible uniquement au Super-Admin et auditeurs fiscaux.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Isolation par Tenant : </a:t>
            </a:r>
            <a:r>
              <a:rPr>
                <a:solidFill>
                  <a:srgbClr val="64748B"/>
                </a:solidFill>
              </a:rPr>
              <a:t>Chaque pharmacie audite uniquement son propre journal d'opérations.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Grand Livre &amp; Exports Comptables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  <a:latin typeface="Arial"/>
              </a:defRPr>
            </a:pPr>
            <a:r>
              <a:t>● CONFORMITÉ COMPTABLE &amp; FISCALE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Ventilation Comptable Automatique : </a:t>
            </a:r>
            <a:r>
              <a:rPr>
                <a:solidFill>
                  <a:srgbClr val="64748B"/>
                </a:solidFill>
              </a:rPr>
              <a:t>Répartition quotidienne des flux par comptes de vente, TVA collectée, caisse et tiers.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Exports Multi-Formats : </a:t>
            </a:r>
            <a:r>
              <a:rPr>
                <a:solidFill>
                  <a:srgbClr val="64748B"/>
                </a:solidFill>
              </a:rPr>
              <a:t>Génération en un clic des journaux de vente et états de stock en formats Excel (.xlsx), CSV et PDF.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Clôture Mensuelle / Annuelle : </a:t>
            </a:r>
            <a:r>
              <a:rPr>
                <a:solidFill>
                  <a:srgbClr val="64748B"/>
                </a:solidFill>
              </a:rPr>
              <a:t>Édition des bilans pour l'expert-comptable de l'officine avec conformité fiscale intégrée.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Historique Immuable : </a:t>
            </a:r>
            <a:r>
              <a:rPr>
                <a:solidFill>
                  <a:srgbClr val="64748B"/>
                </a:solidFill>
              </a:rPr>
              <a:t>Toutes les archives financières restent consultables sans limite de durée.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Sauvegarde Sécurisée Cloud : </a:t>
            </a:r>
            <a:r>
              <a:rPr>
                <a:solidFill>
                  <a:srgbClr val="64748B"/>
                </a:solidFill>
              </a:rPr>
              <a:t>Données dupliquées et chiffrées sur le serveur MySQL centralisé.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SYNTHÈSE TOTALE DES MODULES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Matrice Fonctionnelle Exhaustive de la Solution PharmaGest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COUVERTURE FONCTIONNELLE 100%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675120"/>
                <a:gridCol w="1645920"/>
              </a:tblGrid>
              <a:tr h="403860">
                <a:tc>
                  <a:txBody>
                    <a:bodyPr tIns="54864" bIns="54864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Domaine Fonctionnel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Fonctionnalités Clés Implémentées &amp; Opérationnelles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Périmètre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Architecture &amp;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Isolation pharmacy_id, Onboarding express, Licences &amp; Quotas, Multi-caisses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SaaS Fédéré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Point de Vente (POS)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Scan douchette, Ventes multi-moyens (Cash, Mobile, CB), Remises contrôlées, Tickets 80mm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Comptoir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Stocks &amp; FEFO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Déstockage FEFO automatique, Numéros de lots, DLUO, Alertes 90/60/30j, Inventaires tournants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Logistique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Achats &amp; Fournisseurs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Répertoire grossistes, Bons de commande, Réceptions BL, Pointage lots &amp; CUMP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Approvisionnement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Sessions de Caisse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Ouverture avec fond, Mouvements espèces, Clôture à l'aveugle, Écarts, Rapports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Tiers-Payant &amp; Assurances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Conventions mutuelles, Prise en charge 80/20, Bordereaux périodiques, Lettrage règlements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Mutuelles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Dossier Patients &amp; Crédits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Fiches patients, NIF entreprise, Plafonds de crédit autorisés, Règlements échelonnés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Patientèle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Fiscalité OBR EBMS V0.5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Certification HTTPS:9443, QR Code fiscal, Signatures SHA256, Factures d'avoir (cn_motif)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Conformité Légale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 Hors-Ligne (Offline)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Base locale SQLite WAL, Signature locale, File d'attente SyncQueue, Sync idempotente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Résilience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Tableaux de Bord &amp; Graphes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KPI en direct, Donut Top Ventes, Santé du stock, Valorisation globale du stock (PUMP)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Décisionnel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Audit Trail &amp; Sécurité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RBAC granulaire, Chiffrement bcrypt, Tokens JWT, Table DeletionLog inaltérable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Sécurité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CONCLUSION &amp; VALEUR AJOUTÉE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Synthèse des Bénéfices Clés : Indépendants &amp; Réseaux d'Officines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PHARMAGEST ONLINE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Pour la Pharmacie Indépendante</a:t>
            </a:r>
          </a:p>
          <a:p>
            <a:pPr>
              <a:spcAft>
                <a:spcPts val="6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● SIMPLICITÉ, SÉCURITÉ &amp; RENTABILITÉ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Zéro Investissement Serveur Lourd : </a:t>
            </a:r>
            <a:r>
              <a:rPr>
                <a:solidFill>
                  <a:srgbClr val="64748B"/>
                </a:solidFill>
              </a:rPr>
              <a:t>Déploiement immédiat sur PC existant ou tablette sans frais d'infrastructure complexe.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Conformité OBR Sans Stress : </a:t>
            </a:r>
            <a:r>
              <a:rPr>
                <a:solidFill>
                  <a:srgbClr val="64748B"/>
                </a:solidFill>
              </a:rPr>
              <a:t>Zéro pénalité fiscale : certification automatique à chaque vente au comptoir.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Protection Contre les Pertes : </a:t>
            </a:r>
            <a:r>
              <a:rPr>
                <a:solidFill>
                  <a:srgbClr val="64748B"/>
                </a:solidFill>
              </a:rPr>
              <a:t>L'algorithme FEFO et les alertes préventives réduisent le gâchis de médicaments à zéro.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Sérénité Hors-Ligne : </a:t>
            </a:r>
            <a:r>
              <a:rPr>
                <a:solidFill>
                  <a:srgbClr val="64748B"/>
                </a:solidFill>
              </a:rPr>
              <a:t>Même en cas de coupure Internet ou d'électricité, la caisse continue d'encaisser et d'imprimer.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Clarté Financière Immédiate : </a:t>
            </a:r>
            <a:r>
              <a:rPr>
                <a:solidFill>
                  <a:srgbClr val="64748B"/>
                </a:solidFill>
              </a:rPr>
              <a:t>Rapprochement des écarts de caisse chaque soir avec le Rapport Z inviolable.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Pour les Groupements &amp; Réseaux d'Officines</a:t>
            </a:r>
          </a:p>
          <a:p>
            <a:pPr>
              <a:spcAft>
                <a:spcPts val="6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● EXPANSION &amp; CONTRÔLE STRATÉGIQUE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Gestion Multi-Sites Centralisée : </a:t>
            </a:r>
            <a:r>
              <a:rPr>
                <a:solidFill>
                  <a:srgbClr val="64748B"/>
                </a:solidFill>
              </a:rPr>
              <a:t>Supervision de tout le parc d'officines depuis un unique tableau de bord SaaS.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Étanchéité Commerciale Totale : </a:t>
            </a:r>
            <a:r>
              <a:rPr>
                <a:solidFill>
                  <a:srgbClr val="64748B"/>
                </a:solidFill>
              </a:rPr>
              <a:t>Chaque succursale préserve ses marges, ses stocks et ses clients en toute autonomie.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Économies d'Échelle SaaS : </a:t>
            </a:r>
            <a:r>
              <a:rPr>
                <a:solidFill>
                  <a:srgbClr val="64748B"/>
                </a:solidFill>
              </a:rPr>
              <a:t>Partage de l'infrastructure Cloud tout en conservant une personnalisation par officine.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Harmonisation des Processus : </a:t>
            </a:r>
            <a:r>
              <a:rPr>
                <a:solidFill>
                  <a:srgbClr val="64748B"/>
                </a:solidFill>
              </a:rPr>
              <a:t>Mêmes standards de délivrance pharmaceutique, de traçabilité et de reporting comptable.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✔ Évolutivité Sans Limite : </a:t>
            </a:r>
            <a:r>
              <a:rPr>
                <a:solidFill>
                  <a:srgbClr val="64748B"/>
                </a:solidFill>
              </a:rPr>
              <a:t>Ajout instantané de nouvelles officines dans le système au fur et à mesure du développement.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
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3200400"/>
            <a:ext cx="4572000" cy="4572000"/>
          </a:xfrm>
          <a:prstGeom prst="ellipse">
            <a:avLst/>
          </a:prstGeom>
          <a:solidFill>
            <a:srgbClr val="143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09728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 i="0">
                <a:solidFill>
                  <a:srgbClr val="0D9488"/>
                </a:solidFill>
                <a:latin typeface="Arial"/>
              </a:defRPr>
            </a:pPr>
            <a:r>
              <a:t>VOTRE PHARMACIE. SIMPLIFIÉE.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86868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Arial"/>
              </a:defRPr>
            </a:pPr>
            <a:r>
              <a:t>PharmaGest Online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9184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 b="0" i="0">
                <a:solidFill>
                  <a:srgbClr val="CBD5E1"/>
                </a:solidFill>
                <a:latin typeface="Arial"/>
              </a:defRPr>
            </a:pPr>
            <a:r>
              <a:t>La solution complète pour gérer votre officine : ventes, stocks,</a:t>
            </a:r>
            <a:br/>
            <a:r>
              <a:t>fiscalité et rapports — au bout de vos doigts, même sans Internet.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46320"/>
            <a:ext cx="246888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🛒  Vente en 3 secondes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12464" y="4846320"/>
            <a:ext cx="246888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📦  Zéro médicament périmé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19088" y="4846320"/>
            <a:ext cx="246888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🧾  Factures légales automatiques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25712" y="4846320"/>
            <a:ext cx="246888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📊  Vos chiffres en temps réel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Arial"/>
              </a:defRPr>
            </a:pPr>
            <a:r>
              <a:t>Qu'est-ce que PharmaGest Online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CCFBF1"/>
                </a:solidFill>
                <a:latin typeface="Arial"/>
              </a:defRPr>
            </a:pPr>
            <a:r>
              <a:t>Pensez à un assistant ultra-compétent, disponible 24h/24, qui ne se trompe jamais.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20640" cy="448056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 i="0">
                <a:solidFill>
                  <a:srgbClr val="B91C1C"/>
                </a:solidFill>
                <a:latin typeface="Arial"/>
              </a:defRPr>
            </a:pPr>
            <a:r>
              <a:t>😰 AVANT PHARMAGEST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 i="0">
                <a:solidFill>
                  <a:srgbClr val="B91C1C"/>
                </a:solidFill>
                <a:latin typeface="Arial"/>
              </a:defRPr>
            </a:pPr>
            <a:r>
              <a:t>📋  Registres papier qui se perdent ou se trompent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7180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 i="0">
                <a:solidFill>
                  <a:srgbClr val="B91C1C"/>
                </a:solidFill>
                <a:latin typeface="Arial"/>
              </a:defRPr>
            </a:pPr>
            <a:r>
              <a:t>⏳  Clients qui attendent longtemps à la caisse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2044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 i="0">
                <a:solidFill>
                  <a:srgbClr val="B91C1C"/>
                </a:solidFill>
                <a:latin typeface="Arial"/>
              </a:defRPr>
            </a:pPr>
            <a:r>
              <a:t>🔴  Médicaments périmés qu'on retrouve en rayon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06908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 i="0">
                <a:solidFill>
                  <a:srgbClr val="B91C1C"/>
                </a:solidFill>
                <a:latin typeface="Arial"/>
              </a:defRPr>
            </a:pPr>
            <a:r>
              <a:t>😤  Factures fiscales à préparer manuellement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 i="0">
                <a:solidFill>
                  <a:srgbClr val="B91C1C"/>
                </a:solidFill>
                <a:latin typeface="Arial"/>
              </a:defRPr>
            </a:pPr>
            <a:r>
              <a:t>📞  Comptable à appeler pour connaître ses marges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16636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 i="0">
                <a:solidFill>
                  <a:srgbClr val="B91C1C"/>
                </a:solidFill>
                <a:latin typeface="Arial"/>
              </a:defRPr>
            </a:pPr>
            <a:r>
              <a:t>💸  Erreurs de caisse difficiles à expliquer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89320" y="3657600"/>
            <a:ext cx="411480" cy="27432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402336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800" b="0" i="0">
                <a:solidFill>
                  <a:srgbClr val="0F172A"/>
                </a:solidFill>
                <a:latin typeface="Arial"/>
              </a:defRPr>
            </a:pPr>
            <a:r>
              <a:t>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1737360"/>
            <a:ext cx="5120640" cy="448056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182880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 i="0">
                <a:solidFill>
                  <a:srgbClr val="15803D"/>
                </a:solidFill>
                <a:latin typeface="Arial"/>
              </a:defRPr>
            </a:pPr>
            <a:r>
              <a:t>✅ AVEC PHARMAGEST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42316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 i="0">
                <a:solidFill>
                  <a:srgbClr val="15803D"/>
                </a:solidFill>
                <a:latin typeface="Arial"/>
              </a:defRPr>
            </a:pPr>
            <a:r>
              <a:t>💻  Tout est enregistré automatiquement et retrouvable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97180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 i="0">
                <a:solidFill>
                  <a:srgbClr val="15803D"/>
                </a:solidFill>
                <a:latin typeface="Arial"/>
              </a:defRPr>
            </a:pPr>
            <a:r>
              <a:t>⚡  Vente bouclée en 3 secondes avec le scanner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52044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 i="0">
                <a:solidFill>
                  <a:srgbClr val="15803D"/>
                </a:solidFill>
                <a:latin typeface="Arial"/>
              </a:defRPr>
            </a:pPr>
            <a:r>
              <a:t>🌿  Logiciel vérifie lui-même les dates de péremption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06908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 i="0">
                <a:solidFill>
                  <a:srgbClr val="15803D"/>
                </a:solidFill>
                <a:latin typeface="Arial"/>
              </a:defRPr>
            </a:pPr>
            <a:r>
              <a:t>🧾  Factures légales générées et envoyées automatiquement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61772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 i="0">
                <a:solidFill>
                  <a:srgbClr val="15803D"/>
                </a:solidFill>
                <a:latin typeface="Arial"/>
              </a:defRPr>
            </a:pPr>
            <a:r>
              <a:t>📊  Vos chiffres s'affichent en direct sur l'écran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516636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 i="0">
                <a:solidFill>
                  <a:srgbClr val="15803D"/>
                </a:solidFill>
                <a:latin typeface="Arial"/>
              </a:defRPr>
            </a:pPr>
            <a:r>
              <a:t>🎯  Caisse comptée et vérifiée chaque soir en quelques clics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Arial"/>
              </a:defRPr>
            </a:pPr>
            <a:r>
              <a:t>Votre réseau de pharmacies — chacune chez elle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CCFBF1"/>
                </a:solidFill>
                <a:latin typeface="Arial"/>
              </a:defRPr>
            </a:pPr>
            <a:r>
              <a:t>Que vous ayez une seule officine ou un groupe entier, PharmaGest les gère toutes sans les mélanger.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1">
                <a:solidFill>
                  <a:srgbClr val="64748B"/>
                </a:solidFill>
                <a:latin typeface="Arial"/>
              </a:defRPr>
            </a:pPr>
            <a:r>
              <a:t>💡 Imaginez un grand immeuble sécurisé avec des appartements séparés. Chaque pharmacie a son propre appartement avec sa clé. Personne ne peut entrer chez les voisins. Mais le gérant de l'immeuble voit tout depuis son bureau.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3017520" cy="29260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 i="0">
                <a:solidFill>
                  <a:srgbClr val="1D4ED8"/>
                </a:solidFill>
                <a:latin typeface="Arial"/>
              </a:defRPr>
            </a:pPr>
            <a:r>
              <a:t>🏥 Pharmacie du Centre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246120"/>
            <a:ext cx="2651760" cy="274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37560"/>
            <a:ext cx="265176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 i="0">
                <a:solidFill>
                  <a:srgbClr val="0F172A"/>
                </a:solidFill>
                <a:latin typeface="Arial"/>
              </a:defRPr>
            </a:pPr>
            <a:r>
              <a:t>Caisse 1 &amp; Caisse 2</a:t>
            </a:r>
            <a:br/>
            <a:r>
              <a:t>NIF propre</a:t>
            </a:r>
            <a:br/>
            <a:r>
              <a:t>Stock dédié</a:t>
            </a:r>
            <a:br/>
            <a:r>
              <a:t>Ordonnances locales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50208" y="2560320"/>
            <a:ext cx="3017520" cy="292608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33088" y="269748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 i="0">
                <a:solidFill>
                  <a:srgbClr val="0D9488"/>
                </a:solidFill>
                <a:latin typeface="Arial"/>
              </a:defRPr>
            </a:pPr>
            <a:r>
              <a:t>🏥 Pharmacie de la Gare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33088" y="3246120"/>
            <a:ext cx="2651760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33088" y="3337560"/>
            <a:ext cx="265176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 i="0">
                <a:solidFill>
                  <a:srgbClr val="0F172A"/>
                </a:solidFill>
                <a:latin typeface="Arial"/>
              </a:defRPr>
            </a:pPr>
            <a:r>
              <a:t>1 Caisse principale</a:t>
            </a:r>
            <a:br/>
            <a:r>
              <a:t>Son propre prix de vente</a:t>
            </a:r>
            <a:br/>
            <a:r>
              <a:t>Ses propres fournisseurs</a:t>
            </a:r>
            <a:br/>
            <a:r>
              <a:t>Ses propres clients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68896" y="2560320"/>
            <a:ext cx="3017520" cy="292608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51776" y="269748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 i="0">
                <a:solidFill>
                  <a:srgbClr val="6D28D9"/>
                </a:solidFill>
                <a:latin typeface="Arial"/>
              </a:defRPr>
            </a:pPr>
            <a:r>
              <a:t>🏥 Pharmacie Nord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51776" y="3246120"/>
            <a:ext cx="2651760" cy="2743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51776" y="3337560"/>
            <a:ext cx="265176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 i="0">
                <a:solidFill>
                  <a:srgbClr val="0F172A"/>
                </a:solidFill>
                <a:latin typeface="Arial"/>
              </a:defRPr>
            </a:pPr>
            <a:r>
              <a:t>Comptoir Express</a:t>
            </a:r>
            <a:br/>
            <a:r>
              <a:t>Médecins partenaires locaux</a:t>
            </a:r>
            <a:br/>
            <a:r>
              <a:t>Assurances locales</a:t>
            </a:r>
            <a:br/>
            <a:r>
              <a:t>Inventaire propre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2139696" y="5577840"/>
            <a:ext cx="201168" cy="228600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own Arrow 20"/>
          <p:cNvSpPr/>
          <p:nvPr/>
        </p:nvSpPr>
        <p:spPr>
          <a:xfrm>
            <a:off x="5358384" y="5577840"/>
            <a:ext cx="201168" cy="228600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own Arrow 21"/>
          <p:cNvSpPr/>
          <p:nvPr/>
        </p:nvSpPr>
        <p:spPr>
          <a:xfrm>
            <a:off x="8577072" y="5577840"/>
            <a:ext cx="201168" cy="228600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" y="5852160"/>
            <a:ext cx="10698480" cy="640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9436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  <a:latin typeface="Arial"/>
              </a:defRPr>
            </a:pPr>
            <a:r>
              <a:t>☁️  Serveur Central Sécurisé PharmaGest Online  —  Chaque pharmacie voit uniquement ses propres données, en toute confidentialité.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Arial"/>
              </a:defRPr>
            </a:pPr>
            <a:r>
              <a:t>Au comptoir : une vente bouclée en 3 secondes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CCFBF1"/>
                </a:solidFill>
                <a:latin typeface="Arial"/>
              </a:defRPr>
            </a:pPr>
            <a:r>
              <a:t>Le logiciel fait tout le travail. Votre équipe se concentre sur le patient.</a:t>
            </a:r>
          </a:p>
        </p:txBody>
      </p:sp>
      <p:sp>
        <p:nvSpPr>
          <p:cNvPr id="7" name="Oval 6"/>
          <p:cNvSpPr/>
          <p:nvPr/>
        </p:nvSpPr>
        <p:spPr>
          <a:xfrm>
            <a:off x="1417320" y="1737360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1764792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23160"/>
            <a:ext cx="19202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56032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0" i="0">
                <a:solidFill>
                  <a:srgbClr val="0F172A"/>
                </a:solidFill>
                <a:latin typeface="Arial"/>
              </a:defRPr>
            </a:pPr>
            <a:r>
              <a:t>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154680"/>
            <a:ext cx="16459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50" b="1" i="0">
                <a:solidFill>
                  <a:srgbClr val="0D9488"/>
                </a:solidFill>
                <a:latin typeface="Arial"/>
              </a:defRPr>
            </a:pPr>
            <a:r>
              <a:t>Scanner le</a:t>
            </a:r>
            <a:br/>
            <a:r>
              <a:t>médicament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94760"/>
            <a:ext cx="164592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0" i="0">
                <a:solidFill>
                  <a:srgbClr val="64748B"/>
                </a:solidFill>
                <a:latin typeface="Arial"/>
              </a:defRPr>
            </a:pPr>
            <a:r>
              <a:t>Le caissier scanne</a:t>
            </a:r>
            <a:br/>
            <a:r>
              <a:t>le code-barres ou</a:t>
            </a:r>
            <a:br/>
            <a:r>
              <a:t>cherche le nom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660904" y="4114800"/>
            <a:ext cx="164592" cy="18288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8728" y="1737360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1764792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52928" y="2423160"/>
            <a:ext cx="19202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90088" y="256032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0" i="0">
                <a:solidFill>
                  <a:srgbClr val="0F172A"/>
                </a:solidFill>
                <a:latin typeface="Arial"/>
              </a:defRPr>
            </a:pPr>
            <a:r>
              <a:t>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0088" y="3154680"/>
            <a:ext cx="16459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50" b="1" i="0">
                <a:solidFill>
                  <a:srgbClr val="0D9488"/>
                </a:solidFill>
                <a:latin typeface="Arial"/>
              </a:defRPr>
            </a:pPr>
            <a:r>
              <a:t>Calcul</a:t>
            </a:r>
            <a:br/>
            <a:r>
              <a:t>automatique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90088" y="3794760"/>
            <a:ext cx="164592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0" i="0">
                <a:solidFill>
                  <a:srgbClr val="64748B"/>
                </a:solidFill>
                <a:latin typeface="Arial"/>
              </a:defRPr>
            </a:pPr>
            <a:r>
              <a:t>Prix, taxes et</a:t>
            </a:r>
            <a:br/>
            <a:r>
              <a:t>monnaie à rendre</a:t>
            </a:r>
            <a:br/>
            <a:r>
              <a:t>calculés en 1 clic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782312" y="4114800"/>
            <a:ext cx="164592" cy="18288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660136" y="1737360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0136" y="1764792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74336" y="2423160"/>
            <a:ext cx="19202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11496" y="256032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0" i="0">
                <a:solidFill>
                  <a:srgbClr val="0F172A"/>
                </a:solidFill>
                <a:latin typeface="Arial"/>
              </a:defRPr>
            </a:pPr>
            <a:r>
              <a:t>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11496" y="3154680"/>
            <a:ext cx="16459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50" b="1" i="0">
                <a:solidFill>
                  <a:srgbClr val="0D9488"/>
                </a:solidFill>
                <a:latin typeface="Arial"/>
              </a:defRPr>
            </a:pPr>
            <a:r>
              <a:t>Encaissement</a:t>
            </a:r>
            <a:br/>
            <a:r>
              <a:t>facile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11496" y="3794760"/>
            <a:ext cx="164592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0" i="0">
                <a:solidFill>
                  <a:srgbClr val="64748B"/>
                </a:solidFill>
                <a:latin typeface="Arial"/>
              </a:defRPr>
            </a:pPr>
            <a:r>
              <a:t>Espèces, téléphone</a:t>
            </a:r>
            <a:br/>
            <a:r>
              <a:t>(Mobile Money) ou</a:t>
            </a:r>
            <a:br/>
            <a:r>
              <a:t>carte bancaire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6903720" y="4114800"/>
            <a:ext cx="164592" cy="18288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781544" y="1737360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81544" y="1764792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95744" y="2423160"/>
            <a:ext cx="19202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32904" y="256032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0" i="0">
                <a:solidFill>
                  <a:srgbClr val="0F172A"/>
                </a:solidFill>
                <a:latin typeface="Arial"/>
              </a:defRPr>
            </a:pPr>
            <a:r>
              <a:t>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32904" y="3154680"/>
            <a:ext cx="16459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50" b="1" i="0">
                <a:solidFill>
                  <a:srgbClr val="0D9488"/>
                </a:solidFill>
                <a:latin typeface="Arial"/>
              </a:defRPr>
            </a:pPr>
            <a:r>
              <a:t>Facture</a:t>
            </a:r>
            <a:br/>
            <a:r>
              <a:t>légale émise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32904" y="3794760"/>
            <a:ext cx="164592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0" i="0">
                <a:solidFill>
                  <a:srgbClr val="64748B"/>
                </a:solidFill>
                <a:latin typeface="Arial"/>
              </a:defRPr>
            </a:pPr>
            <a:r>
              <a:t>Le reçu OBR officiel</a:t>
            </a:r>
            <a:br/>
            <a:r>
              <a:t>avec QR code est</a:t>
            </a:r>
            <a:br/>
            <a:r>
              <a:t>généré instantanément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9025128" y="4114800"/>
            <a:ext cx="164592" cy="18288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902952" y="1737360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02952" y="1764792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17152" y="2423160"/>
            <a:ext cx="19202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54312" y="256032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0" i="0">
                <a:solidFill>
                  <a:srgbClr val="0F172A"/>
                </a:solidFill>
                <a:latin typeface="Arial"/>
              </a:defRPr>
            </a:pPr>
            <a:r>
              <a:t>🖨️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54312" y="3154680"/>
            <a:ext cx="16459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50" b="1" i="0">
                <a:solidFill>
                  <a:srgbClr val="0D9488"/>
                </a:solidFill>
                <a:latin typeface="Arial"/>
              </a:defRPr>
            </a:pPr>
            <a:r>
              <a:t>Impression</a:t>
            </a:r>
            <a:br/>
            <a:r>
              <a:t>eutick papier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54312" y="3794760"/>
            <a:ext cx="164592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0" i="0">
                <a:solidFill>
                  <a:srgbClr val="64748B"/>
                </a:solidFill>
                <a:latin typeface="Arial"/>
              </a:defRPr>
            </a:pPr>
            <a:r>
              <a:t>Le ticket sort en 2</a:t>
            </a:r>
            <a:br/>
            <a:r>
              <a:t>secondes sur votre</a:t>
            </a:r>
            <a:br/>
            <a:r>
              <a:t>imprimante caisse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6309360"/>
            <a:ext cx="10698480" cy="36576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63550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15803D"/>
                </a:solidFill>
                <a:latin typeface="Arial"/>
              </a:defRPr>
            </a:pPr>
            <a:r>
              <a:t>🎯  Les remises et réductions ne peuvent être accordées que par les personnes autorisées — les erreurs et les abus sont évités.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Arial"/>
              </a:defRPr>
            </a:pPr>
            <a:r>
              <a:t>Vos médicaments : aucune perte, aucune péremption ratée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CCFBF1"/>
                </a:solidFill>
                <a:latin typeface="Arial"/>
              </a:defRPr>
            </a:pPr>
            <a:r>
              <a:t>Le logiciel surveille vos stocks à votre place — comme un gardien de rayon infaillible.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1">
                <a:solidFill>
                  <a:srgbClr val="64748B"/>
                </a:solidFill>
                <a:latin typeface="Arial"/>
              </a:defRPr>
            </a:pPr>
            <a:r>
              <a:t>💡 La règle de base : toujours vendre en premier les médicaments qui vont expirer le plus tôt. PharmaGest applique ça automatiquement, sans que votre équipe n'ait à y penser.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68880"/>
            <a:ext cx="3291840" cy="274320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2606040"/>
            <a:ext cx="594360" cy="32004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29260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 i="0">
                <a:solidFill>
                  <a:srgbClr val="C2410C"/>
                </a:solidFill>
                <a:latin typeface="Arial"/>
              </a:defRPr>
            </a:pPr>
            <a:r>
              <a:t>📦 Lot A</a:t>
            </a:r>
            <a:br/>
            <a:r>
              <a:t>Reçu : Janvier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49039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 i="0">
                <a:solidFill>
                  <a:srgbClr val="0F172A"/>
                </a:solidFill>
                <a:latin typeface="Arial"/>
              </a:defRPr>
            </a:pPr>
            <a:r>
              <a:t>Expire dans 2 mois ⚠️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5196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 i="0">
                <a:solidFill>
                  <a:srgbClr val="C2410C"/>
                </a:solidFill>
                <a:latin typeface="Arial"/>
              </a:defRPr>
            </a:pPr>
            <a:r>
              <a:t>→ VENDU EN PREMIER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69080" y="3657600"/>
            <a:ext cx="201168" cy="18288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97680" y="2468880"/>
            <a:ext cx="3291840" cy="27432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2606040"/>
            <a:ext cx="594360" cy="32004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2e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017520"/>
            <a:ext cx="29260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 i="0">
                <a:solidFill>
                  <a:srgbClr val="15803D"/>
                </a:solidFill>
                <a:latin typeface="Arial"/>
              </a:defRPr>
            </a:pPr>
            <a:r>
              <a:t>📦 Lot B</a:t>
            </a:r>
            <a:br/>
            <a:r>
              <a:t>Reçu : Mars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749039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 i="0">
                <a:solidFill>
                  <a:srgbClr val="0F172A"/>
                </a:solidFill>
                <a:latin typeface="Arial"/>
              </a:defRPr>
            </a:pPr>
            <a:r>
              <a:t>Expire dans 8 mois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25196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 i="0">
                <a:solidFill>
                  <a:srgbClr val="15803D"/>
                </a:solidFill>
                <a:latin typeface="Arial"/>
              </a:defRPr>
            </a:pPr>
            <a:r>
              <a:t>→ VENDU EN SECOND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635240" y="3657600"/>
            <a:ext cx="201168" cy="18288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863840" y="2468880"/>
            <a:ext cx="3291840" cy="27432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01000" y="2606040"/>
            <a:ext cx="594360" cy="32004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3e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017520"/>
            <a:ext cx="29260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 i="0">
                <a:solidFill>
                  <a:srgbClr val="1D4ED8"/>
                </a:solidFill>
                <a:latin typeface="Arial"/>
              </a:defRPr>
            </a:pPr>
            <a:r>
              <a:t>📦 Lot C</a:t>
            </a:r>
            <a:br/>
            <a:r>
              <a:t>Reçu : Juin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3749039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 i="0">
                <a:solidFill>
                  <a:srgbClr val="0F172A"/>
                </a:solidFill>
                <a:latin typeface="Arial"/>
              </a:defRPr>
            </a:pPr>
            <a:r>
              <a:t>Expire dans 14 mois 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425196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 i="0">
                <a:solidFill>
                  <a:srgbClr val="1D4ED8"/>
                </a:solidFill>
                <a:latin typeface="Arial"/>
              </a:defRPr>
            </a:pPr>
            <a:r>
              <a:t>→ VENDU EN DERNIER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44068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 i="0">
                <a:solidFill>
                  <a:srgbClr val="0F172A"/>
                </a:solidFill>
                <a:latin typeface="Arial"/>
              </a:defRPr>
            </a:pPr>
            <a:r>
              <a:t>🔔  Le logiciel vous prévient automatiquement avant que les médicaments n'expirent :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897880"/>
            <a:ext cx="3383280" cy="68580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98932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 i="0">
                <a:solidFill>
                  <a:srgbClr val="0F172A"/>
                </a:solidFill>
                <a:latin typeface="Arial"/>
              </a:defRPr>
            </a:pPr>
            <a:r>
              <a:t>🟠 90 jours avant</a:t>
            </a:r>
            <a:br/>
            <a:r>
              <a:t>Prévenez votre fournisseur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15968" y="5897880"/>
            <a:ext cx="3383280" cy="6858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98848" y="598932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 i="0">
                <a:solidFill>
                  <a:srgbClr val="0F172A"/>
                </a:solidFill>
                <a:latin typeface="Arial"/>
              </a:defRPr>
            </a:pPr>
            <a:r>
              <a:t>🔴 30 jours avant</a:t>
            </a:r>
            <a:br/>
            <a:r>
              <a:t>Promotion ou retour en urgence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00416" y="5897880"/>
            <a:ext cx="3383280" cy="685800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83296" y="598932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 i="0">
                <a:solidFill>
                  <a:srgbClr val="0F172A"/>
                </a:solidFill>
                <a:latin typeface="Arial"/>
              </a:defRPr>
            </a:pPr>
            <a:r>
              <a:t>⛔ Date dépassée</a:t>
            </a:r>
            <a:br/>
            <a:r>
              <a:t>Bloqué automatiquement à la vente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Arial"/>
              </a:defRPr>
            </a:pPr>
            <a:r>
              <a:t>La caisse : plus jamais d'écart inexpliqué le soir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CCFBF1"/>
                </a:solidFill>
                <a:latin typeface="Arial"/>
              </a:defRPr>
            </a:pPr>
            <a:r>
              <a:t>Votre caissier ouvre, vend, compte et ferme. Le logiciel vérifie tout automatiquement.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2606040" cy="43891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28800"/>
            <a:ext cx="2276856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50" b="1" i="0">
                <a:solidFill>
                  <a:srgbClr val="1D4ED8"/>
                </a:solidFill>
                <a:latin typeface="Arial"/>
              </a:defRPr>
            </a:pPr>
            <a:r>
              <a:t>🌅 MATIN — Ouverture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2468880"/>
            <a:ext cx="2276856" cy="228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560320"/>
            <a:ext cx="2276856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Votre caissier déclare le montant en caisse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127248"/>
            <a:ext cx="2276856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Ex : 50 000 FBu pour démarrer la journée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694176"/>
            <a:ext cx="2276856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Le logiciel enregistre l'heure et la somme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346704" y="3657600"/>
            <a:ext cx="164592" cy="20116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38728" y="1691640"/>
            <a:ext cx="2606040" cy="43891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1828800"/>
            <a:ext cx="2276856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50" b="1" i="0">
                <a:solidFill>
                  <a:srgbClr val="15803D"/>
                </a:solidFill>
                <a:latin typeface="Arial"/>
              </a:defRPr>
            </a:pPr>
            <a:r>
              <a:t>☀️ JOURNÉE — Ventes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2468880"/>
            <a:ext cx="2276856" cy="2286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2560320"/>
            <a:ext cx="2276856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Chaque vente est enregistrée en temps réel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3127248"/>
            <a:ext cx="2276856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Le total disponible se met à jour à chaque encaissement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3694176"/>
            <a:ext cx="2276856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Sorties approuvées également enregistrées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153912" y="3657600"/>
            <a:ext cx="164592" cy="20116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45936" y="1691640"/>
            <a:ext cx="2606040" cy="438912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0528" y="1828800"/>
            <a:ext cx="2276856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50" b="1" i="0">
                <a:solidFill>
                  <a:srgbClr val="C2410C"/>
                </a:solidFill>
                <a:latin typeface="Arial"/>
              </a:defRPr>
            </a:pPr>
            <a:r>
              <a:t>🌇 SOIR — Comptage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10528" y="2468880"/>
            <a:ext cx="2276856" cy="2286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0528" y="2560320"/>
            <a:ext cx="2276856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Votre caissier compte l'argent physiquement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3127248"/>
            <a:ext cx="2276856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Il saisit la somme — sans voir le total attendu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3694176"/>
            <a:ext cx="2276856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Honnêteté garantie : il ne peut pas tricher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961120" y="3657600"/>
            <a:ext cx="164592" cy="20116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53144" y="1691640"/>
            <a:ext cx="2606040" cy="438912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17736" y="1828800"/>
            <a:ext cx="2276856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50" b="1" i="0">
                <a:solidFill>
                  <a:srgbClr val="6D28D9"/>
                </a:solidFill>
                <a:latin typeface="Arial"/>
              </a:defRPr>
            </a:pPr>
            <a:r>
              <a:t>📋 RÉSULTAT — Rapport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17736" y="2468880"/>
            <a:ext cx="2276856" cy="228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17736" y="2560320"/>
            <a:ext cx="2276856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Le logiciel compare automatiquement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17736" y="3127248"/>
            <a:ext cx="2276856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Excédent ou manquant indiqué à l'euro près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17736" y="3694176"/>
            <a:ext cx="2276856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Rapport Z officiel généré pour la comptabilité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6263640"/>
            <a:ext cx="10698480" cy="41148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63276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 i="0">
                <a:solidFill>
                  <a:srgbClr val="15803D"/>
                </a:solidFill>
                <a:latin typeface="Arial"/>
              </a:defRPr>
            </a:pPr>
            <a:r>
              <a:t>✅  Plusieurs caisses en simultané ? Chacune a son propre rapport. Vous comparez tout depuis votre bureau.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Arial"/>
              </a:defRPr>
            </a:pPr>
            <a:r>
              <a:t>Assurances &amp; mutuelles : calculées automatiquement, réclamées facilement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CCFBF1"/>
                </a:solidFill>
                <a:latin typeface="Arial"/>
              </a:defRPr>
            </a:pPr>
            <a:r>
              <a:t>Votre caissier n'a plus besoin de calculer la part de la mutuelle à la main.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1">
                <a:solidFill>
                  <a:srgbClr val="64748B"/>
                </a:solidFill>
                <a:latin typeface="Arial"/>
              </a:defRPr>
            </a:pPr>
            <a:r>
              <a:t>💡 Pour chaque patient assuré, le logiciel répartit automatiquement qui paie quoi — le patient règle sa part immédiatement, et la pharmacie réclame le reste à la mutuelle à la fin du mois.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560320"/>
            <a:ext cx="3291840" cy="3749039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9748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1D4ED8"/>
                </a:solidFill>
                <a:latin typeface="Arial"/>
              </a:defRPr>
            </a:pPr>
            <a:r>
              <a:t>👤 LE PATIENT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9184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Présente sa carte mutuelle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93192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Le logiciel calcule sa part (ex. 20%)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5720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Il paye uniquement ce qu'il doit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1208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Reçoit un reçu clair et lisible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2560320"/>
            <a:ext cx="3291840" cy="3749039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69748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15803D"/>
                </a:solidFill>
                <a:latin typeface="Arial"/>
              </a:defRPr>
            </a:pPr>
            <a:r>
              <a:t>💊 LA PHARMACIE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29184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Aucun calcul manuel n'est nécessaire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93192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La créance est enregistrée automatiquement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5720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Bordereau de remboursement prêt en 1 clic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521208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Suivi de qui a remboursé, qui ne l'a pas fait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2560320"/>
            <a:ext cx="3291840" cy="3749039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269748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6D28D9"/>
                </a:solidFill>
                <a:latin typeface="Arial"/>
              </a:defRPr>
            </a:pPr>
            <a:r>
              <a:t>🏥 L'ASSURANCE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29184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Reçoit le bordereau préparé par le logiciel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93192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Vérifie et valide les ordonnances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5720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Vire le montant sur votre compte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521208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La pharmacie enregistre le règlement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4206240" y="4297680"/>
            <a:ext cx="228600" cy="20116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ight Arrow 26"/>
          <p:cNvSpPr/>
          <p:nvPr/>
        </p:nvSpPr>
        <p:spPr>
          <a:xfrm>
            <a:off x="7863840" y="4297680"/>
            <a:ext cx="228600" cy="20116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31520" y="6446520"/>
            <a:ext cx="10698480" cy="32004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650138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C2410C"/>
                </a:solidFill>
                <a:latin typeface="Arial"/>
              </a:defRPr>
            </a:pPr>
            <a:r>
              <a:t>🔔  Vous voyez en temps réel combien vous attendez encore de remboursement — et combien de temps ça fait que vous attendez.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Arial"/>
              </a:defRPr>
            </a:pPr>
            <a:r>
              <a:t>Facturation légale (OBR) : le logiciel remplace vos déclarations manuelles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CCFBF1"/>
                </a:solidFill>
                <a:latin typeface="Arial"/>
              </a:defRPr>
            </a:pPr>
            <a:r>
              <a:t>Chaque vente génère automatiquement une facture officielle reconnue par l'État burundais.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1">
                <a:solidFill>
                  <a:srgbClr val="64748B"/>
                </a:solidFill>
                <a:latin typeface="Arial"/>
              </a:defRPr>
            </a:pPr>
            <a:r>
              <a:t>💡 Comme un caissier de supermarché qui imprime automatiquement un reçu certifié — sauf que ici, c'est l'État burundais qui reconnaît ce reçu comme preuve fiscale officielle. Zéro déclaration manuelle.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5120640" cy="429768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B91C1C"/>
                </a:solidFill>
                <a:latin typeface="Arial"/>
              </a:defRPr>
            </a:pPr>
            <a:r>
              <a:t>😓 Sans PharmaGest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B91C1C"/>
                </a:solidFill>
                <a:latin typeface="Arial"/>
              </a:defRPr>
            </a:pPr>
            <a:r>
              <a:t>❌ Factures manuelles sur papier ou Excel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5760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B91C1C"/>
                </a:solidFill>
                <a:latin typeface="Arial"/>
              </a:defRPr>
            </a:pPr>
            <a:r>
              <a:t>❌ Transmission mensuelle fastidieuse à l'OBR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B91C1C"/>
                </a:solidFill>
                <a:latin typeface="Arial"/>
              </a:defRPr>
            </a:pPr>
            <a:r>
              <a:t>❌ Risque d'oubli, d'erreur ou de retard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6344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B91C1C"/>
                </a:solidFill>
                <a:latin typeface="Arial"/>
              </a:defRPr>
            </a:pPr>
            <a:r>
              <a:t>❌ Pénalités fiscales possibles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1663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B91C1C"/>
                </a:solidFill>
                <a:latin typeface="Arial"/>
              </a:defRPr>
            </a:pPr>
            <a:r>
              <a:t>❌ Impossible de retrouver une ancienne facture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66928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B91C1C"/>
                </a:solidFill>
                <a:latin typeface="Arial"/>
              </a:defRPr>
            </a:pPr>
            <a:r>
              <a:t>❌ Annuler une vente : un casse-tête administratif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423160"/>
            <a:ext cx="5212080" cy="429768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560320"/>
            <a:ext cx="48463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15803D"/>
                </a:solidFill>
                <a:latin typeface="Arial"/>
              </a:defRPr>
            </a:pPr>
            <a:r>
              <a:t>✅ Avec PharmaGest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15468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15803D"/>
                </a:solidFill>
                <a:latin typeface="Arial"/>
              </a:defRPr>
            </a:pPr>
            <a:r>
              <a:t>✅ Facture OBR certifiée émise à chaque vente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65760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15803D"/>
                </a:solidFill>
                <a:latin typeface="Arial"/>
              </a:defRPr>
            </a:pPr>
            <a:r>
              <a:t>✅ Envoi automatique en temps réel à l'OBR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16052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15803D"/>
                </a:solidFill>
                <a:latin typeface="Arial"/>
              </a:defRPr>
            </a:pPr>
            <a:r>
              <a:t>✅ QR code scannable par l'agent des impôts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66344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15803D"/>
                </a:solidFill>
                <a:latin typeface="Arial"/>
              </a:defRPr>
            </a:pPr>
            <a:r>
              <a:t>✅ Zéro pénalité — conformité garantie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16636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15803D"/>
                </a:solidFill>
                <a:latin typeface="Arial"/>
              </a:defRPr>
            </a:pPr>
            <a:r>
              <a:t>✅ Retrouvez toute facture en quelques secondes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66928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15803D"/>
                </a:solidFill>
                <a:latin typeface="Arial"/>
              </a:defRPr>
            </a:pPr>
            <a:r>
              <a:t>✅ Annulation encadrée et traçable — sans risque légal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6400800"/>
            <a:ext cx="10698480" cy="32004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646480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C2410C"/>
                </a:solidFill>
                <a:latin typeface="Arial"/>
              </a:defRPr>
            </a:pPr>
            <a:r>
              <a:t>📶  Internet coupé ? Pas de panique. Le logiciel continue à vendre et à imprimer des reçus signés. Les factures sont envoyées à l'OBR dès le retour du réseau.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Arial"/>
              </a:defRPr>
            </a:pPr>
            <a:r>
              <a:t>Vos chiffres en direct — sans attendre le comptable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CCFBF1"/>
                </a:solidFill>
                <a:latin typeface="Arial"/>
              </a:defRPr>
            </a:pPr>
            <a:r>
              <a:t>En un coup d'œil, vous savez exactement comment se porte votre officine.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383280" cy="196596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6400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0" i="0">
                <a:solidFill>
                  <a:srgbClr val="0F172A"/>
                </a:solidFill>
                <a:latin typeface="Arial"/>
              </a:defRPr>
            </a:pPr>
            <a:r>
              <a:t>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05740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15803D"/>
                </a:solidFill>
                <a:latin typeface="Arial"/>
              </a:defRPr>
            </a:pPr>
            <a:r>
              <a:t>Chiffre d'affaires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697480"/>
            <a:ext cx="3054096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t>du jour, de la semaine</a:t>
            </a:r>
            <a:br/>
            <a:r>
              <a:t>ou de l'année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828800"/>
            <a:ext cx="3383280" cy="196596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965960"/>
            <a:ext cx="6400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0" i="0">
                <a:solidFill>
                  <a:srgbClr val="0F172A"/>
                </a:solidFill>
                <a:latin typeface="Arial"/>
              </a:defRPr>
            </a:pPr>
            <a:r>
              <a:t>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84648" y="205740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0D9488"/>
                </a:solidFill>
                <a:latin typeface="Arial"/>
              </a:defRPr>
            </a:pPr>
            <a:r>
              <a:t>Votre marge brute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697480"/>
            <a:ext cx="3054096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t>ce que vous gagnez</a:t>
            </a:r>
            <a:br/>
            <a:r>
              <a:t>réellement sur chaque vente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0416" y="1828800"/>
            <a:ext cx="3383280" cy="19659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65008" y="1965960"/>
            <a:ext cx="6400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0" i="0">
                <a:solidFill>
                  <a:srgbClr val="0F172A"/>
                </a:solidFill>
                <a:latin typeface="Arial"/>
              </a:defRPr>
            </a:pPr>
            <a:r>
              <a:t>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9096" y="205740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1D4ED8"/>
                </a:solidFill>
                <a:latin typeface="Arial"/>
              </a:defRPr>
            </a:pPr>
            <a:r>
              <a:t>Top des ventes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5008" y="2697480"/>
            <a:ext cx="3054096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t>vos 5 médicaments</a:t>
            </a:r>
            <a:br/>
            <a:r>
              <a:t>les plus vendus ce mois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977640"/>
            <a:ext cx="3383280" cy="196596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114800"/>
            <a:ext cx="6400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0" i="0">
                <a:solidFill>
                  <a:srgbClr val="0F172A"/>
                </a:solidFill>
                <a:latin typeface="Arial"/>
              </a:defRPr>
            </a:pPr>
            <a:r>
              <a:t>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20624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C2410C"/>
                </a:solidFill>
                <a:latin typeface="Arial"/>
              </a:defRPr>
            </a:pPr>
            <a:r>
              <a:t>État de votre stock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4846320"/>
            <a:ext cx="3054096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t>ce qui manque, ce qui</a:t>
            </a:r>
            <a:br/>
            <a:r>
              <a:t>va bientôt expirer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15968" y="3977640"/>
            <a:ext cx="3383280" cy="196596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0" y="4114800"/>
            <a:ext cx="6400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0" i="0">
                <a:solidFill>
                  <a:srgbClr val="0F172A"/>
                </a:solidFill>
                <a:latin typeface="Arial"/>
              </a:defRPr>
            </a:pPr>
            <a:r>
              <a:t>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84648" y="420624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6D28D9"/>
                </a:solidFill>
                <a:latin typeface="Arial"/>
              </a:defRPr>
            </a:pPr>
            <a:r>
              <a:t>Valeur de votre stock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846320"/>
            <a:ext cx="3054096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t>ce que vaut votre inventaire</a:t>
            </a:r>
            <a:br/>
            <a:r>
              <a:t>au prix d'achat et de vente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00416" y="3977640"/>
            <a:ext cx="3383280" cy="196596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65008" y="4114800"/>
            <a:ext cx="6400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0" i="0">
                <a:solidFill>
                  <a:srgbClr val="0F172A"/>
                </a:solidFill>
                <a:latin typeface="Arial"/>
              </a:defRPr>
            </a:pPr>
            <a:r>
              <a:t>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69096" y="420624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B91C1C"/>
                </a:solidFill>
                <a:latin typeface="Arial"/>
              </a:defRPr>
            </a:pPr>
            <a:r>
              <a:t>Clients en attente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65008" y="4846320"/>
            <a:ext cx="3054096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t>les comptes crédits</a:t>
            </a:r>
            <a:br/>
            <a:r>
              <a:t>et remboursements dus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6263640"/>
            <a:ext cx="10698480" cy="41148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63276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 i="0">
                <a:solidFill>
                  <a:srgbClr val="0D9488"/>
                </a:solidFill>
                <a:latin typeface="Arial"/>
              </a:defRPr>
            </a:pPr>
            <a:r>
              <a:t>📱  Consultez vos chiffres depuis votre téléphone, votre tablette ou votre ordinateur — où que vous soyez.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Arial"/>
              </a:defRPr>
            </a:pPr>
            <a:r>
              <a:t>Coupure d'Internet ? Votre pharmacie continue de tourner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CCFBF1"/>
                </a:solidFill>
                <a:latin typeface="Arial"/>
              </a:defRPr>
            </a:pPr>
            <a:r>
              <a:t>PharmaGest est conçu pour fonctionner même quand le réseau est absent.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1">
                <a:solidFill>
                  <a:srgbClr val="64748B"/>
                </a:solidFill>
                <a:latin typeface="Arial"/>
              </a:defRPr>
            </a:pPr>
            <a:r>
              <a:t>💡 Comme votre téléphone portable qui prend vos photos même sans réseau — et les envoie quand la connexion revient. PharmaGest fait pareil avec vos ventes.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3383280" cy="402336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 i="0">
                <a:solidFill>
                  <a:srgbClr val="C2410C"/>
                </a:solidFill>
                <a:latin typeface="Arial"/>
              </a:defRPr>
            </a:pPr>
            <a:r>
              <a:t>📴 RÉSEAU COUPÉ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108960"/>
            <a:ext cx="3017520" cy="2743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Vous continuez à vendre normalement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76472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Les médicaments sont bien déstockés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06824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Les tickets s'impriment sans attendre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37176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Les factures sont signées localement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67528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L'écran affiche : 'Mode hors-ligne actif'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2423160"/>
            <a:ext cx="3383280" cy="40233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2560320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 i="0">
                <a:solidFill>
                  <a:srgbClr val="1D4ED8"/>
                </a:solidFill>
                <a:latin typeface="Arial"/>
              </a:defRPr>
            </a:pPr>
            <a:r>
              <a:t>🔄 EN MÉMOIRE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3108960"/>
            <a:ext cx="3017520" cy="274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324612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Toutes les ventes sont sauvegardées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776472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Un identifiant unique évite les doublons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306824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Aucune perte de données, jamais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837176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Le logiciel attend patiemment le réseau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367528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Vous ne perdez pas un seul centime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2423160"/>
            <a:ext cx="3383280" cy="402336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2560320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 i="0">
                <a:solidFill>
                  <a:srgbClr val="15803D"/>
                </a:solidFill>
                <a:latin typeface="Arial"/>
              </a:defRPr>
            </a:pPr>
            <a:r>
              <a:t>📡 RÉSEAU REVIENT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3108960"/>
            <a:ext cx="3017520" cy="2743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24612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Synchronisation automatique en quelques secondes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776472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Toutes les ventes remontent dans le cloud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306824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Les factures sont envoyées à l'OBR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837176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Vos tableaux de bord se mettent à jour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5367528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Rien à faire — c'est entièrement automatique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4206240" y="4297680"/>
            <a:ext cx="146304" cy="18288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ight Arrow 32"/>
          <p:cNvSpPr/>
          <p:nvPr/>
        </p:nvSpPr>
        <p:spPr>
          <a:xfrm>
            <a:off x="7863840" y="4297680"/>
            <a:ext cx="146304" cy="18288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31520" y="6583680"/>
            <a:ext cx="10698480" cy="2286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6629400"/>
            <a:ext cx="10058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 i="0">
                <a:solidFill>
                  <a:srgbClr val="15803D"/>
                </a:solidFill>
                <a:latin typeface="Arial"/>
              </a:defRPr>
            </a:pPr>
            <a:r>
              <a:t>✅  Garanti sans perte de données. Garanti sans interruption de service. Garanti pour votre tranquillité.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Arial"/>
              </a:defRPr>
            </a:pPr>
            <a:r>
              <a:t>Votre tranquillité : qui accède à quoi, et tout est tracé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CCFBF1"/>
                </a:solidFill>
                <a:latin typeface="Arial"/>
              </a:defRPr>
            </a:pPr>
            <a:r>
              <a:t>Vous choisissez qui peut faire quoi dans votre pharmacie. Le reste est automatiquement protégé.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2606040" cy="41148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7068" y="2011680"/>
            <a:ext cx="685800" cy="68580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87068" y="2057400"/>
            <a:ext cx="685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3464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 i="0">
                <a:solidFill>
                  <a:srgbClr val="6D28D9"/>
                </a:solidFill>
                <a:latin typeface="Arial"/>
              </a:defRPr>
            </a:pPr>
            <a:r>
              <a:t>Le Pharmacien Titulaire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429000"/>
            <a:ext cx="23317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Voit tout et configure tout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959352"/>
            <a:ext cx="23317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Règle les prix et les marges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489704"/>
            <a:ext cx="23317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Gère les accès de son équipe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020056"/>
            <a:ext cx="23317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Consulte les rapports complets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38728" y="1874519"/>
            <a:ext cx="2606040" cy="41148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94276" y="2011680"/>
            <a:ext cx="685800" cy="68580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94276" y="2057400"/>
            <a:ext cx="685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5888" y="283464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 i="0">
                <a:solidFill>
                  <a:srgbClr val="1D4ED8"/>
                </a:solidFill>
                <a:latin typeface="Arial"/>
              </a:defRPr>
            </a:pPr>
            <a:r>
              <a:t>Le Pharmacien Adjoint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75888" y="3429000"/>
            <a:ext cx="23317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Gère les commandes fournisseurs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8" y="3959352"/>
            <a:ext cx="23317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Valide les réceptions en stock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75888" y="4489704"/>
            <a:ext cx="23317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Délivre sur ordonnance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75888" y="5020056"/>
            <a:ext cx="23317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Ne peut pas modifier les prix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45936" y="1874519"/>
            <a:ext cx="2606040" cy="411480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1484" y="2011680"/>
            <a:ext cx="685800" cy="6858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01484" y="2057400"/>
            <a:ext cx="685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3096" y="283464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 i="0">
                <a:solidFill>
                  <a:srgbClr val="0D9488"/>
                </a:solidFill>
                <a:latin typeface="Arial"/>
              </a:defRPr>
            </a:pPr>
            <a:r>
              <a:t>Le Gestionnaire Stock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83096" y="3429000"/>
            <a:ext cx="23317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Réceptionne et contrôle les livraisons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83096" y="3959352"/>
            <a:ext cx="23317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Fait les inventaires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83096" y="4489704"/>
            <a:ext cx="23317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Vérifie les dates de péremption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3096" y="5020056"/>
            <a:ext cx="23317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N'a pas accès à la caisse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53144" y="1874519"/>
            <a:ext cx="2606040" cy="41148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108692" y="2011680"/>
            <a:ext cx="685800" cy="685800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08692" y="2057400"/>
            <a:ext cx="685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90304" y="283464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 i="0">
                <a:solidFill>
                  <a:srgbClr val="15803D"/>
                </a:solidFill>
                <a:latin typeface="Arial"/>
              </a:defRPr>
            </a:pPr>
            <a:r>
              <a:t>Le Caissier/Vendeur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90304" y="3429000"/>
            <a:ext cx="23317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Vend et encaisse uniquement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90304" y="3959352"/>
            <a:ext cx="23317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Ouvre et ferme sa caisse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90304" y="4489704"/>
            <a:ext cx="23317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Ne peut pas modifier les stocks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90304" y="5020056"/>
            <a:ext cx="23317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0F172A"/>
                </a:solidFill>
                <a:latin typeface="Arial"/>
              </a:defRPr>
            </a:pPr>
            <a:r>
              <a:t>• Ne voit pas les données des collègues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617220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t>🔒  En plus des rôles, chaque action est enregistrée avec l'heure et le nom de la personne. Si un médicament disparaît du stock sans explication, vous savez qui, quand et pourquoi.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Arial"/>
              </a:defRPr>
            </a:pPr>
            <a:r>
              <a:t>Ce que vous gagnez concrètement chaque jour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CCFBF1"/>
                </a:solidFill>
                <a:latin typeface="Arial"/>
              </a:defRPr>
            </a:pPr>
            <a:r>
              <a:t>Des bénéfices visibles, mesurables, dès la première semaine.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3383280" cy="201168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39111"/>
            <a:ext cx="640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0" i="0">
                <a:solidFill>
                  <a:srgbClr val="0F172A"/>
                </a:solidFill>
                <a:latin typeface="Arial"/>
              </a:defRPr>
            </a:pPr>
            <a:r>
              <a:t>⏱️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103119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15803D"/>
                </a:solidFill>
                <a:latin typeface="Arial"/>
              </a:defRPr>
            </a:pPr>
            <a:r>
              <a:t>Du temps libéré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97479"/>
            <a:ext cx="301752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t>Vos équipes passent moins de temps</a:t>
            </a:r>
            <a:br/>
            <a:r>
              <a:t>à chercher, à calculer, à corriger.</a:t>
            </a:r>
            <a:br/>
            <a:r>
              <a:t>Ils se concentrent sur le patient.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874519"/>
            <a:ext cx="3383280" cy="201168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2039111"/>
            <a:ext cx="640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0" i="0">
                <a:solidFill>
                  <a:srgbClr val="0F172A"/>
                </a:solidFill>
                <a:latin typeface="Arial"/>
              </a:defRPr>
            </a:pPr>
            <a:r>
              <a:t>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84648" y="2103119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0D9488"/>
                </a:solidFill>
                <a:latin typeface="Arial"/>
              </a:defRPr>
            </a:pPr>
            <a:r>
              <a:t>De l'argent économisé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2697479"/>
            <a:ext cx="301752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t>Zéro médicament périmé perdu.</a:t>
            </a:r>
            <a:br/>
            <a:r>
              <a:t>Moins d'erreurs de caisse.</a:t>
            </a:r>
            <a:br/>
            <a:r>
              <a:t>Marge réelle connue chaque jour.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0416" y="1874519"/>
            <a:ext cx="3383280" cy="20116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83296" y="2039111"/>
            <a:ext cx="640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0" i="0">
                <a:solidFill>
                  <a:srgbClr val="0F172A"/>
                </a:solidFill>
                <a:latin typeface="Arial"/>
              </a:defRPr>
            </a:pPr>
            <a:r>
              <a:t>⚖️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9096" y="2103119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1D4ED8"/>
                </a:solidFill>
                <a:latin typeface="Arial"/>
              </a:defRPr>
            </a:pPr>
            <a:r>
              <a:t>La conformité légale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2697479"/>
            <a:ext cx="301752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t>Toutes vos factures sont légales.</a:t>
            </a:r>
            <a:br/>
            <a:r>
              <a:t>Zéro risque de pénalité OBR.</a:t>
            </a:r>
            <a:br/>
            <a:r>
              <a:t>Votre comptable respire mieux.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069079"/>
            <a:ext cx="3383280" cy="201168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233671"/>
            <a:ext cx="640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0" i="0">
                <a:solidFill>
                  <a:srgbClr val="0F172A"/>
                </a:solidFill>
                <a:latin typeface="Arial"/>
              </a:defRPr>
            </a:pPr>
            <a:r>
              <a:t>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297679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6D28D9"/>
                </a:solidFill>
                <a:latin typeface="Arial"/>
              </a:defRPr>
            </a:pPr>
            <a:r>
              <a:t>La sérénité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892039"/>
            <a:ext cx="301752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t>Vous dormez tranquille.</a:t>
            </a:r>
            <a:br/>
            <a:r>
              <a:t>Vos données sont sauvegardées.</a:t>
            </a:r>
            <a:br/>
            <a:r>
              <a:t>Même si la connexion tombe.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15968" y="4069079"/>
            <a:ext cx="3383280" cy="201168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98848" y="4233671"/>
            <a:ext cx="640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0" i="0">
                <a:solidFill>
                  <a:srgbClr val="0F172A"/>
                </a:solidFill>
                <a:latin typeface="Arial"/>
              </a:defRPr>
            </a:pPr>
            <a:r>
              <a:t>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84648" y="4297679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C2410C"/>
                </a:solidFill>
                <a:latin typeface="Arial"/>
              </a:defRPr>
            </a:pPr>
            <a:r>
              <a:t>La croissance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8848" y="4892039"/>
            <a:ext cx="301752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t>Vous connaissez vos produits</a:t>
            </a:r>
            <a:br/>
            <a:r>
              <a:t>les plus rentables. Vous prenez</a:t>
            </a:r>
            <a:br/>
            <a:r>
              <a:t>de meilleures décisions d'achat.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00416" y="4069079"/>
            <a:ext cx="3383280" cy="201168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83296" y="4233671"/>
            <a:ext cx="640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0" i="0">
                <a:solidFill>
                  <a:srgbClr val="0F172A"/>
                </a:solidFill>
                <a:latin typeface="Arial"/>
              </a:defRPr>
            </a:pPr>
            <a:r>
              <a:t>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69096" y="4297679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15803D"/>
                </a:solidFill>
                <a:latin typeface="Arial"/>
              </a:defRPr>
            </a:pPr>
            <a:r>
              <a:t>L'évolutivité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4892039"/>
            <a:ext cx="301752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t>Ouvrez une 2e, 3e pharmacie.</a:t>
            </a:r>
            <a:br/>
            <a:r>
              <a:t>Le logiciel s'adapte à votre rythme.</a:t>
            </a:r>
            <a:br/>
            <a:r>
              <a:t>Sans tout recommencer de zéro.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914400"/>
            <a:ext cx="5486400" cy="5486400"/>
          </a:xfrm>
          <a:prstGeom prst="ellipse">
            <a:avLst/>
          </a:prstGeom>
          <a:solidFill>
            <a:srgbClr val="143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0" i="0">
                <a:solidFill>
                  <a:srgbClr val="0D9488"/>
                </a:solidFill>
                <a:latin typeface="Arial"/>
              </a:defRPr>
            </a:pPr>
            <a:r>
              <a:t>Prêt à transformer votre officine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82296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4000" b="1" i="0">
                <a:solidFill>
                  <a:srgbClr val="FFFFFF"/>
                </a:solidFill>
                <a:latin typeface="Arial"/>
              </a:defRPr>
            </a:pPr>
            <a:r>
              <a:t>PharmaGest Online</a:t>
            </a:r>
            <a:br/>
            <a:r>
              <a:t>vous accompagne.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52044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CBD5E1"/>
                </a:solidFill>
                <a:latin typeface="Arial"/>
              </a:defRPr>
            </a:pPr>
            <a:r>
              <a:t>✅  Mise en route rapide — vous êtes opérationnel en quelques heures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087368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CBD5E1"/>
                </a:solidFill>
                <a:latin typeface="Arial"/>
              </a:defRPr>
            </a:pPr>
            <a:r>
              <a:t>✅  Formation incluse pour vos équipes au comptoir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654296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CBD5E1"/>
                </a:solidFill>
                <a:latin typeface="Arial"/>
              </a:defRPr>
            </a:pPr>
            <a:r>
              <a:t>✅  Support disponible pour répondre à vos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2212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CBD5E1"/>
                </a:solidFill>
                <a:latin typeface="Arial"/>
              </a:defRPr>
            </a:pPr>
            <a:r>
              <a:t>✅  Vos données restent les vôtres, sécurisées et confidentielles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5760720"/>
            <a:ext cx="8229600" cy="82296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594360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 i="0">
                <a:solidFill>
                  <a:srgbClr val="0D9488"/>
                </a:solidFill>
                <a:latin typeface="Arial"/>
              </a:defRPr>
            </a:pPr>
            <a:r>
              <a:t>💊  Pour votre pharmacie. Pour vos patients. Pour votre sérénité.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
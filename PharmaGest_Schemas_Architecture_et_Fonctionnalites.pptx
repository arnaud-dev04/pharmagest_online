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D9488"/>
                </a:solidFill>
                <a:latin typeface="Arial"/>
              </a:defRPr>
            </a:pPr>
            <a:r>
              <a:t>RECUEIL OFFICIEL DE SCHÉMAS &amp; DIAGRAMMES FONCTIONNELS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PharmaGest Online — Cartographie Visuelle</a:t>
            </a:r>
          </a:p>
          <a:p>
            <a:pPr>
              <a:defRPr sz="1800">
                <a:solidFill>
                  <a:srgbClr val="CBD5E1"/>
                </a:solidFill>
                <a:latin typeface="Arial"/>
              </a:defRPr>
            </a:pPr>
            <a:r>
              <a:t>Architecture Multi-Tenant Fédérée, Flux Métier de Caisse, Déstockage FEFO &amp; Fiscalité OBR EBMS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480560"/>
            <a:ext cx="246888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📐 Schémas d'Architecture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Architecture 3-Tiers, Isolation Multi-Tenant (pharmacy_id) &amp; Modèle MCD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4480560"/>
            <a:ext cx="246888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⚡ Flux de Vente &amp; Caisse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Processus POS au comptoir, Déstockage FEFO &amp; Clôture de Caisse (Rapport Z)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4480560"/>
            <a:ext cx="246888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🏛️ Fiscalité OBR EBMS V0.5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Séquence d'appel Port 9443, signature SHA256, QR Code &amp; factures d'avoir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4480560"/>
            <a:ext cx="246888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🔄 Hybride Offline-First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Résilience SQLite local WAL, SyncQueue &amp; Réconciliation Cloud idempotente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VUE D'ENSEMBLE TECHNIQUE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Schéma 1 : Architecture Système Globale 3-Tiers Multi-Tenant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MULTI-TENANT BY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1089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1. TIER CLIENT FRONTEND (FLUTTER)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11680"/>
            <a:ext cx="2743200" cy="10972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21408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🖥️ Client Desktop Windows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Caisse ultra-rapide (POS)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Scan douchette USB/Bluetooth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Impression thermique ESC/POS 80mm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Base SQLite WAL locale embarquée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91840"/>
            <a:ext cx="27432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01568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🌐 Client Navigateur Web (SPA)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Accès gérance &amp; comptabilité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Gestion des catalogues &amp; marges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Tableaux de bord analytiques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Export Excel / CSV / PDF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572000"/>
            <a:ext cx="27432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681728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📱 Client Tablette &amp; Mobile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Inventaire tournant en rayon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Contrôle des réceptions BL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Consultation rapide des prix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Responsive tactile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77639" y="3566160"/>
            <a:ext cx="41148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8056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5727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Arial"/>
              </a:defRPr>
            </a:pPr>
            <a:r>
              <a:t>2. TIER LOGIQUE BACKEND (FASTAPI)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2011680"/>
            <a:ext cx="3108960" cy="10058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2121408"/>
            <a:ext cx="283464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7C3AED"/>
                </a:solidFill>
                <a:latin typeface="Arial"/>
              </a:defRPr>
            </a:pPr>
            <a:r>
              <a:t>🛡️ Middleware Tenant Context &amp; Auth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Décodage JWT (user_id, pharmacy_id, role)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Vérification stricte de l'accès au tenant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Blocage immédiat des requêtes cross-tenant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035040" y="3063240"/>
            <a:ext cx="182880" cy="228600"/>
          </a:xfrm>
          <a:prstGeom prst="down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63440" y="3337560"/>
            <a:ext cx="310896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3447288"/>
            <a:ext cx="283464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D9488"/>
                </a:solidFill>
                <a:latin typeface="Arial"/>
              </a:defRPr>
            </a:pPr>
            <a:r>
              <a:t>⚙️ Moteurs Métier Modulaires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POS &amp; Clôture de Caisse (Rapport Z)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Moteur de Déstockage FEFO automatique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Calculateur Fiscal (TVA 0% exempt / 18%)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Gestion des Crédits &amp; Tiers-Payant Assurances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035040" y="4663440"/>
            <a:ext cx="182880" cy="228600"/>
          </a:xfrm>
          <a:prstGeom prst="down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63440" y="4937760"/>
            <a:ext cx="310896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5047488"/>
            <a:ext cx="283464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🔍 ORM SQLAlchemy + Filtres Automatiques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Injection auto : WHERE pharmacy_id = :id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Transactions ACID sécurisées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Intercepteur DeletionLog pour traçabilité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092440" y="3566160"/>
            <a:ext cx="41148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95360" y="1463040"/>
            <a:ext cx="2834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157276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6A34A"/>
                </a:solidFill>
                <a:latin typeface="Arial"/>
              </a:defRPr>
            </a:pPr>
            <a:r>
              <a:t>3. PERSISTANCE &amp; FISCALITÉ</a:t>
            </a:r>
          </a:p>
        </p:txBody>
      </p:sp>
      <p:sp>
        <p:nvSpPr>
          <p:cNvPr id="29" name="Can 28"/>
          <p:cNvSpPr/>
          <p:nvPr/>
        </p:nvSpPr>
        <p:spPr>
          <a:xfrm>
            <a:off x="8778240" y="2011680"/>
            <a:ext cx="2468880" cy="1554480"/>
          </a:xfrm>
          <a:prstGeom prst="can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5400" y="22402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🗄️ Cloud MySQL (Aiven)</a:t>
            </a:r>
          </a:p>
          <a:p>
            <a:pPr algn="ctr">
              <a:defRPr sz="850">
                <a:solidFill>
                  <a:srgbClr val="475569"/>
                </a:solidFill>
                <a:latin typeface="Arial"/>
              </a:defRPr>
            </a:pPr>
            <a:r>
              <a:t>Base SaaS Fédérée</a:t>
            </a:r>
            <a:br/>
            <a:r>
              <a:t>Multi-Tenant étanche</a:t>
            </a:r>
            <a:br/>
            <a:r>
              <a:t>Sauvegardes chiffrées SSL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3840480"/>
            <a:ext cx="2468880" cy="118872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3950208"/>
            <a:ext cx="21945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7C3AED"/>
                </a:solidFill>
                <a:latin typeface="Arial"/>
              </a:defRPr>
            </a:pPr>
            <a:r>
              <a:t>🏛️ Passerelle OBR EBMS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Port sécurisé HTTPS:9443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Payload épuré (clean_nulls)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Attribution signature SHA256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QR Code fiscal officiel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5166360"/>
            <a:ext cx="246888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5276088"/>
            <a:ext cx="219456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💳 Opérateurs Tiers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Mobile Money (Lumicash, EcoCash)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TPE Cartes Bancaires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Mutuelles / Télétransmission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CLOISONNEMENT STRICT PAR PHARMACY_ID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Schéma 2 : Modèle d'Isolation des Données (Shared Database)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ROW-LEVEL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91440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Arial"/>
              </a:defRPr>
            </a:pPr>
            <a:r>
              <a:t>COUCHE D'AUTHENTIFICATION &amp; SÉCURISATION DES REQUÊTES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C3AED"/>
                </a:solidFill>
                <a:latin typeface="Consolas"/>
              </a:defRPr>
            </a:pPr>
            <a:r>
              <a:t>Requête HTTP Cliente  ──▶  Bearer Token JWT : { "user_id": 42, "tenant_id": "PHARMA_001", "role": "admin" }  ──▶  Injection automatique dans db_session.query(Model).filter(Model.pharmacy_id == tenant_id)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512064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7004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🏢 PHARMACIE A : PHARMACIE DU CENTRE (PHARMACY_ID = 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017520"/>
            <a:ext cx="475488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27248"/>
            <a:ext cx="44805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D9488"/>
                </a:solidFill>
                <a:latin typeface="Arial"/>
              </a:defRPr>
            </a:pPr>
            <a:r>
              <a:t>Fiche Médicaments &amp; Tarifs A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Amoxicilline 500mg : Prix Achat = 1 200 FBu | Prix Vente = 1 800 FBu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Marge commerciale : +50% | Stock A : 140 boîtes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31920"/>
            <a:ext cx="475488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041648"/>
            <a:ext cx="44805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D9488"/>
                </a:solidFill>
                <a:latin typeface="Arial"/>
              </a:defRPr>
            </a:pPr>
            <a:r>
              <a:t>Lots &amp; Traçabilité FEFO A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Lot LOT-A-89 | DLUO : 2027-05-30 | Rayon 1A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Lot LOT-A-92 | DLUO : 2028-02-15 | Rayon 1B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846320"/>
            <a:ext cx="475488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956048"/>
            <a:ext cx="44805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D9488"/>
                </a:solidFill>
                <a:latin typeface="Arial"/>
              </a:defRPr>
            </a:pPr>
            <a:r>
              <a:t>Identité Fiscale OBR &amp; Caisse A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NIF : 4000123456 | Centre Fiscal : DMC | Caisse 1 &amp; Caisse 2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Sessions de caisse et rapports Z strictement indépendants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560320"/>
            <a:ext cx="201168" cy="374903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2560320"/>
            <a:ext cx="512064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7004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Arial"/>
              </a:defRPr>
            </a:pPr>
            <a:r>
              <a:t>🏢 PHARMACIE B : PHARMACIE DE LA GARE (PHARMACY_ID = 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017520"/>
            <a:ext cx="475488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127248"/>
            <a:ext cx="44805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7C3AED"/>
                </a:solidFill>
                <a:latin typeface="Arial"/>
              </a:defRPr>
            </a:pPr>
            <a:r>
              <a:t>Fiche Médicaments &amp; Tarifs B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Amoxicilline 500mg : Prix Achat = 1 150 FBu | Prix Vente = 1 700 FBu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Marge commerciale : +48% | Stock B : 85 boîtes (Catalogue indépendant)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931920"/>
            <a:ext cx="475488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041648"/>
            <a:ext cx="44805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7C3AED"/>
                </a:solidFill>
                <a:latin typeface="Arial"/>
              </a:defRPr>
            </a:pPr>
            <a:r>
              <a:t>Lots &amp; Traçabilité FEFO B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Lot LOT-B-10 | DLUO : 2026-12-31 | Réserve Ouest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Lot LOT-B-14 | DLUO : 2027-09-20 | Rayon Comptoir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4846320"/>
            <a:ext cx="475488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956048"/>
            <a:ext cx="44805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7C3AED"/>
                </a:solidFill>
                <a:latin typeface="Arial"/>
              </a:defRPr>
            </a:pPr>
            <a:r>
              <a:t>Identité Fiscale OBR &amp; Caisse B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NIF : 4000987654 | Centre Fiscal : DPMC | Caisse Principale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Facturation OBR certifiée avec les clés d'API privées du Tenant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ARCHITECTURE DES DONNÉES SQLALCHEMY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Schéma 3 : Modèle Entité-Association (ERD) Multi-Tenant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CLÉ PRIMAIRE TENANT : PHARMACY_ID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00400" cy="16459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2926080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7C3AED"/>
                </a:solidFill>
                <a:latin typeface="Arial"/>
              </a:defRPr>
            </a:pPr>
            <a:r>
              <a:t>🔑 pharmacies (Tenant Root)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id (PK) : int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name, slug, email, phone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nif, rc, center_tax (OBR)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obr_system_id, obr_api_username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is_active, license_key, created_at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63040"/>
            <a:ext cx="32004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72768"/>
            <a:ext cx="2926080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👤 users (Utilisateurs &amp; RBAC)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id (PK) : int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pharmacy_id (FK -&gt; pharmacies.id)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username, email, hashed_password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role: admin, cashier, pharmacist...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is_active, last_login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2004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572768"/>
            <a:ext cx="2926080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D9488"/>
                </a:solidFill>
                <a:latin typeface="Arial"/>
              </a:defRPr>
            </a:pPr>
            <a:r>
              <a:t>💊 medicines (Catalogue Médicaments)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id (PK) : int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pharmacy_id (FK -&gt; pharmacies.id)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name, dci, barcode, form, dosage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tax_category (exempt / standard)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stock_min_alert, is_prescription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320040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84448"/>
            <a:ext cx="2926080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💰 cash_registers (Sessions de Caisse)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id (PK) : int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pharmacy_id (FK -&gt; pharmacies.id)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user_id (FK -&gt; users.id)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opening_time, opening_amount (Fond)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closing_time, closing_amount (Comptage)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difference, status, z_report_path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3474720"/>
            <a:ext cx="320040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584448"/>
            <a:ext cx="2926080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6A34A"/>
                </a:solidFill>
                <a:latin typeface="Arial"/>
              </a:defRPr>
            </a:pPr>
            <a:r>
              <a:t>🛒 pos_sales (Ventes &amp; Factures)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id (PK) : int, invoice_number : str (UUID)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pharmacy_id (FK -&gt; pharmacies.id)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cash_register_id (FK), customer_id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total_amount, tax_amount, payment_mode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obr_signature, obr_status, is_cancelled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474720"/>
            <a:ext cx="320040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584448"/>
            <a:ext cx="2926080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F766E"/>
                </a:solidFill>
                <a:latin typeface="Arial"/>
              </a:defRPr>
            </a:pPr>
            <a:r>
              <a:t>📦 batches &amp; stock (Traçabilité Lots)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id (PK) : int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pharmacy_id (FK -&gt; pharmacies.id)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medicine_id (FK -&gt; medicines.id)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batch_number, expiration_date (DLUO)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quantity_remaining, purchase_price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32004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413248"/>
            <a:ext cx="29260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DC2626"/>
                </a:solidFill>
                <a:latin typeface="Arial"/>
              </a:defRPr>
            </a:pPr>
            <a:r>
              <a:t>🔒 deletion_logs (Audit Immuable)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id (PK), pharmacy_id (FK)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user_id, entity_type, entity_id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deleted_data (JSON), reason, timestamp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5303520"/>
            <a:ext cx="32004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5413248"/>
            <a:ext cx="29260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6A34A"/>
                </a:solidFill>
                <a:latin typeface="Arial"/>
              </a:defRPr>
            </a:pPr>
            <a:r>
              <a:t>🧾 pos_sale_items (Lignes de Vente)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id (PK), sale_id (FK -&gt; pos_sales.id)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batch_id (FK -&gt; batches.id), medicine_id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quantity, unit_price, vat_rate, total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5303520"/>
            <a:ext cx="32004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5413248"/>
            <a:ext cx="29260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🚚 suppliers &amp; restock (Achats)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id (PK), pharmacy_id (FK)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supplier_name, order_date, status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received_date, total_cost, invoice_ref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GESTION PHARMACEUTIQUE DES ACHATS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Schéma 4 : Flux d'Approvisionnement &amp; Entrée en Stock FEFO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TRAÇABILITÉ TOTALE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5544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128016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1. Détection Besoin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Stock actuel &lt;= Seuil mini d'alerte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ou historique de rotation IA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31720" y="283464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0320" y="2011680"/>
            <a:ext cx="15544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2121408"/>
            <a:ext cx="128016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2. Bon de Commande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Sélection du grossiste répartiteur,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quantités &amp; génération PDF d'achat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0520" y="283464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2011680"/>
            <a:ext cx="15544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121408"/>
            <a:ext cx="128016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D9488"/>
                </a:solidFill>
                <a:latin typeface="Arial"/>
              </a:defRPr>
            </a:pPr>
            <a:r>
              <a:t>3. Réception Physique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Pointage du Bon de Livraison (BL)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et contrôle quantitatif des colis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9320" y="283464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15544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121408"/>
            <a:ext cx="128016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4. Saisie Lot &amp; DLUO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Enregistrement obligatoire :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N° Lot Fabricant + Date Péremption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18120" y="283464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2011680"/>
            <a:ext cx="15544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2121408"/>
            <a:ext cx="128016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6A34A"/>
                </a:solidFill>
                <a:latin typeface="Arial"/>
              </a:defRPr>
            </a:pPr>
            <a:r>
              <a:t>5. Indexation FEFO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Recalcul du CUMP (PUMP)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et injection dans l'index FEFO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646920" y="283464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75520" y="2011680"/>
            <a:ext cx="15544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2121408"/>
            <a:ext cx="128016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F766E"/>
                </a:solidFill>
                <a:latin typeface="Arial"/>
              </a:defRPr>
            </a:pPr>
            <a:r>
              <a:t>6. Disponible POS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Articles immédiatement vendables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au comptoir selon l'ordre DLUO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89120"/>
            <a:ext cx="106984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4988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DÉTAIL DES RÈGLES SANITAIRES À LA RÉCEPTION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>
                <a:solidFill>
                  <a:srgbClr val="0F172A"/>
                </a:solidFill>
              </a:rPr>
              <a:t>✔ Aucune entrée sans lot : </a:t>
            </a:r>
            <a:r>
              <a:rPr>
                <a:solidFill>
                  <a:srgbClr val="475569"/>
                </a:solidFill>
              </a:rPr>
              <a:t>Le système bloque toute réception qui n'associe pas un numéro de lot et une date d'expiration valide.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0F172A"/>
                </a:solidFill>
              </a:rPr>
              <a:t>✔ Recalcul automatique du PUMP : </a:t>
            </a:r>
            <a:r>
              <a:rPr>
                <a:solidFill>
                  <a:srgbClr val="475569"/>
                </a:solidFill>
              </a:rPr>
              <a:t>Nouveau Prix Moyen = ((Ancien Stock × Ancien PUMP) + (Qté Reçue × Prix Achat Réel)) / Nouveau Stock Total.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0F172A"/>
                </a:solidFill>
              </a:rPr>
              <a:t>✔ Isolation par pharmacie : </a:t>
            </a:r>
            <a:r>
              <a:rPr>
                <a:solidFill>
                  <a:srgbClr val="475569"/>
                </a:solidFill>
              </a:rPr>
              <a:t>Les stocks et lots reçus sont uniquement rattachés au pharmacy_id du compte récepteur. Zéro mélange.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VENTE AU COMPTOIR &amp; DÉSTOCKAGE SANITAIRE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Schéma 5 : Flux du Point de Vente (POS) &amp; Déstockage FEFO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ALGORITHME FEFO DIRECT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9202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1645920" cy="1883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D9488"/>
                </a:solidFill>
                <a:latin typeface="Arial"/>
              </a:defRPr>
            </a:pPr>
            <a:r>
              <a:t>1. Scan Produit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Scan douchette CIP/Code-barres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Recherche DCI instantanée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Vérification disponibilité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97480" y="274320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26080" y="1828800"/>
            <a:ext cx="19202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1938528"/>
            <a:ext cx="1645920" cy="1883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D9488"/>
                </a:solidFill>
                <a:latin typeface="Arial"/>
              </a:defRPr>
            </a:pPr>
            <a:r>
              <a:t>2. Moteur FEFO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Tri par date expiration ASC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Sélection du lot le plus ancien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Ventilation si multi-lots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92040" y="274320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1828800"/>
            <a:ext cx="19202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938528"/>
            <a:ext cx="1645920" cy="1883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D9488"/>
                </a:solidFill>
                <a:latin typeface="Arial"/>
              </a:defRPr>
            </a:pPr>
            <a:r>
              <a:t>3. Moteur Fiscal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Ventilation TVA 0% (exempt)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TVA 18% (standard parapharmacie)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Calcul HT / TTC automatique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86600" y="274320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0" y="1828800"/>
            <a:ext cx="19202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1938528"/>
            <a:ext cx="1645920" cy="1883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D9488"/>
                </a:solidFill>
                <a:latin typeface="Arial"/>
              </a:defRPr>
            </a:pPr>
            <a:r>
              <a:t>4. Tiers-Payant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Calcul part assurance (ex. 80%)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Calcul part patient (20%)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Enregistrement de la créance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281160" y="274320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09760" y="1828800"/>
            <a:ext cx="19202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1938528"/>
            <a:ext cx="1645920" cy="1883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D9488"/>
                </a:solidFill>
                <a:latin typeface="Arial"/>
              </a:defRPr>
            </a:pPr>
            <a:r>
              <a:t>5. Règlement &amp; Ticket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Cash / Mobile Money / Carte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Signature OBR + QR Code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Impression thermique 80mm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97680"/>
            <a:ext cx="106984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0740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Arial"/>
              </a:defRPr>
            </a:pPr>
            <a:r>
              <a:t>EXEMPLE D'EXÉCUTION DE L'ALGORITHME FEFO (COMMANDE DE 5 BOÎTES D'AMOXICILLINE)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709160"/>
            <a:ext cx="3108960" cy="13716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818888"/>
            <a:ext cx="283464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DC2626"/>
                </a:solidFill>
                <a:latin typeface="Arial"/>
              </a:defRPr>
            </a:pPr>
            <a:r>
              <a:t>Lot A : Expire 2026-11-30 (Proche)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Quantité disponible en rayon : 3 boîtes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👉 Déstockage prioritaire FEFO : 3 boîtes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Nouveau solde Lot A : 0 boîte (Épuisé)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4709160"/>
            <a:ext cx="3108960" cy="13716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818888"/>
            <a:ext cx="283464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6A34A"/>
                </a:solidFill>
                <a:latin typeface="Arial"/>
              </a:defRPr>
            </a:pPr>
            <a:r>
              <a:t>Lot B : Expire 2028-04-15 (Lointain)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Quantité disponible en rayon : 20 boîtes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👉 Complément FEFO prélevé : 2 boîtes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Nouveau solde Lot B : 18 boîtes restantes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4709160"/>
            <a:ext cx="32004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39" y="4818888"/>
            <a:ext cx="292608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D9488"/>
                </a:solidFill>
                <a:latin typeface="Arial"/>
              </a:defRPr>
            </a:pPr>
            <a:r>
              <a:t>Résultat au Ticket de Caisse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Total délivré au patient : 5 boîtes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Double ligne de traçabilité imprimée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Zéro périmé délivré, zéro perte d'argent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CONFORMITÉ FISCALE EN TEMPS RÉEL (BURUNDI)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Schéma 6 : Flux Fiscal de Certification OBR EBMS V0.5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PORT HTTPS:9443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2860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20116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1. Vente POS Validée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Payload JSON construit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NIF, articles, taxes calculées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clean_nulls (sans clés nulles)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63240" y="2331720"/>
            <a:ext cx="27432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3383280" y="1554480"/>
            <a:ext cx="2011680" cy="1737360"/>
          </a:xfrm>
          <a:prstGeom prst="diamond">
            <a:avLst/>
          </a:prstGeom>
          <a:solidFill>
            <a:srgbClr val="F3E8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7C3AED"/>
                </a:solidFill>
                <a:latin typeface="Arial"/>
              </a:defRPr>
            </a:pPr>
            <a:r>
              <a:t>Liaison Internet</a:t>
            </a:r>
            <a:br/>
            <a:r>
              <a:t>Active vers OBR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463040"/>
            <a:ext cx="2926080" cy="1188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572768"/>
            <a:ext cx="26517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6A34A"/>
                </a:solidFill>
                <a:latin typeface="Arial"/>
              </a:defRPr>
            </a:pPr>
            <a:r>
              <a:t>✅ Appel API OBR (Port 9443)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POST https://ebms.obr.gov.bi:9443/ebms_api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Réception N° Facture OBR officiel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Attribution Signature électronique OBR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463040"/>
            <a:ext cx="22860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1572768"/>
            <a:ext cx="20116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6A34A"/>
                </a:solidFill>
                <a:latin typeface="Arial"/>
              </a:defRPr>
            </a:pPr>
            <a:r>
              <a:t>Ticket Fiscal Certifié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Bandeau CONFORME EBMS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QR Code scannable officiel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Statut: obr_synced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017520"/>
            <a:ext cx="2926080" cy="11887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3127248"/>
            <a:ext cx="26517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⚠️ Mode Hors-Ligne (Fallback)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Calcul Signature Locale SHA256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Mention ticket : 'SIGNÉ LOCAL'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Mémorisation dans SyncQueue locale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3017520"/>
            <a:ext cx="22860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3127248"/>
            <a:ext cx="20116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D9488"/>
                </a:solidFill>
                <a:latin typeface="Arial"/>
              </a:defRPr>
            </a:pPr>
            <a:r>
              <a:t>Sync Différée (Batch)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Retour de la connexion Internet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POST /obr/resync-pending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Régularisation OBR sans doublon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80560"/>
            <a:ext cx="106984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9028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C2626"/>
                </a:solidFill>
                <a:latin typeface="Arial"/>
              </a:defRPr>
            </a:pPr>
            <a:r>
              <a:t>CADRE RÉGLEMENTAIRE : ANNULATION DE FACTURE &amp; AVOIR FISCAL (CREDIT NOTE)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>
                <a:solidFill>
                  <a:srgbClr val="0F172A"/>
                </a:solidFill>
              </a:rPr>
              <a:t>🔒 Interdiction de suppression : </a:t>
            </a:r>
            <a:r>
              <a:rPr>
                <a:solidFill>
                  <a:srgbClr val="475569"/>
                </a:solidFill>
              </a:rPr>
              <a:t>Une facture scellée par l'OBR ne peut JAMAIS être effacée ou modifiée dans la base de données.</a:t>
            </a:r>
          </a:p>
          <a:p>
            <a:pPr>
              <a:spcAft>
                <a:spcPts val="300"/>
              </a:spcAft>
            </a:pPr>
            <a:r>
              <a:rPr b="1">
                <a:solidFill>
                  <a:srgbClr val="0F172A"/>
                </a:solidFill>
              </a:rPr>
              <a:t>📋 Motif Légal Obligatoire (`cn_motif`) : </a:t>
            </a:r>
            <a:r>
              <a:rPr>
                <a:solidFill>
                  <a:srgbClr val="475569"/>
                </a:solidFill>
              </a:rPr>
              <a:t>L'annulation génère une facture d'avoir transmise à l'OBR avec justification (ex. erreur de délivrance, retour produit, avarie).</a:t>
            </a:r>
          </a:p>
          <a:p>
            <a:pPr>
              <a:spcAft>
                <a:spcPts val="300"/>
              </a:spcAft>
            </a:pPr>
            <a:r>
              <a:rPr b="1">
                <a:solidFill>
                  <a:srgbClr val="0F172A"/>
                </a:solidFill>
              </a:rPr>
              <a:t>🔄 Restitution en Stock Automatique : </a:t>
            </a:r>
            <a:r>
              <a:rPr>
                <a:solidFill>
                  <a:srgbClr val="475569"/>
                </a:solidFill>
              </a:rPr>
              <a:t>Les quantités des lots initialement sortis sont réintégrées dans le stock sous réserve de contrôle de conformité.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CONTINUITÉ ABSOLUE DU SERVICE AU COMPTOIR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Schéma 7 : Architecture Résiliente Offline-First &amp; Sync Hybride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SQLITE WAL + CLOUD MYSQL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754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CAISSE LOCALE DU PHARMACIEN (SANS INTERNET)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11680"/>
            <a:ext cx="438912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21408"/>
            <a:ext cx="411480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D9488"/>
                </a:solidFill>
                <a:latin typeface="Arial"/>
              </a:defRPr>
            </a:pPr>
            <a:r>
              <a:t>🖥️ Client Flutter + SQLite Local (Mode WAL)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Ventes au comptoir 100% opérationnelles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Déstockage FEFO local instantané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Impression des tickets thermiques sans latence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017520" y="3063240"/>
            <a:ext cx="182880" cy="22860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337560"/>
            <a:ext cx="4389120" cy="128016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47288"/>
            <a:ext cx="411480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📥 File d'Attente Locale (SyncQueue)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Horodatage chronologique des transactions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Attribution d'identifiants universels UUID uniques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Sécurisation locale des événements de stock et de caisse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Statut : en attente de téléversement (pending)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017520" y="4663440"/>
            <a:ext cx="182880" cy="22860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937760"/>
            <a:ext cx="438912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047488"/>
            <a:ext cx="411480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📡 Détecteur Réseau &amp; Worker d'Arrière-Plan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Ping régulier vers le serveur central Cloud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Déclenchement automatique dès retour de la connexion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Mode batch optimisé pour faible bande passante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3017520"/>
            <a:ext cx="914400" cy="146304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SYNC</a:t>
            </a:r>
            <a:br/>
            <a:r>
              <a:t>🔄</a:t>
            </a:r>
            <a:br/>
            <a:r>
              <a:t>Idempotente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1463040"/>
            <a:ext cx="4754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157276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INFRASTRUCTURE CLOUD SAAS CENTRALISÉE</a:t>
            </a:r>
          </a:p>
        </p:txBody>
      </p:sp>
      <p:sp>
        <p:nvSpPr>
          <p:cNvPr id="20" name="Can 19"/>
          <p:cNvSpPr/>
          <p:nvPr/>
        </p:nvSpPr>
        <p:spPr>
          <a:xfrm>
            <a:off x="6858000" y="2011680"/>
            <a:ext cx="4389120" cy="1463040"/>
          </a:xfrm>
          <a:prstGeom prst="can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2240280"/>
            <a:ext cx="4114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🗄️ Cloud MySQL (Aiven)</a:t>
            </a:r>
          </a:p>
          <a:p>
            <a:pPr algn="ctr">
              <a:defRPr sz="850">
                <a:solidFill>
                  <a:srgbClr val="475569"/>
                </a:solidFill>
                <a:latin typeface="Arial"/>
              </a:defRPr>
            </a:pPr>
            <a:r>
              <a:t>Consolidation multi-caisses &amp; multi-tenants</a:t>
            </a:r>
            <a:br/>
            <a:r>
              <a:t>Traitement anti-doublon par clé UUID</a:t>
            </a:r>
            <a:br/>
            <a:r>
              <a:t>Calcul des statistiques globales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3657600"/>
            <a:ext cx="4389120" cy="10972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3767328"/>
            <a:ext cx="411480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6A34A"/>
                </a:solidFill>
                <a:latin typeface="Arial"/>
              </a:defRPr>
            </a:pPr>
            <a:r>
              <a:t>🏛️ Téléversement Automatique OBR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Envoi des factures signées localement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Validation OBR et réception du QR code définitif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Mise à jour du statut : synced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4937760"/>
            <a:ext cx="438912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5047488"/>
            <a:ext cx="411480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⬇️ Descente des Mises à Jour vers la Caisse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Nouveaux prix et articles créés sur le Web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Mise à jour des plafonds de crédit et tiers-payant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Diffusion des consignes sanitaires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CONTRÔLE FINANCIER &amp; SÉCURITÉ DE CAISSE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Schéma 8 : Cycle de Session de Caisse &amp; Rapport Journalier 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MODULE : CASH_REGISTER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4688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219456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D9488"/>
                </a:solidFill>
                <a:latin typeface="Arial"/>
              </a:defRPr>
            </a:pPr>
            <a:r>
              <a:t>1. Ouverture Caisse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Saisie du Fond initial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Association au caissier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Affectation Caisse N°X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Horodatage de début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743200"/>
            <a:ext cx="22860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4688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938528"/>
            <a:ext cx="219456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2. Ventes &amp; Encaissements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Traçabilité continue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Ventilation par mode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Enregistrement entrées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Sorties autorisées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9320" y="2743200"/>
            <a:ext cx="22860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4688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938528"/>
            <a:ext cx="219456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3. Clôture Aveugle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Comptage physique espèces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Saisie sans voir théorique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Évite toute tentation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Validation de fin de poste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32520" y="2743200"/>
            <a:ext cx="22860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0" y="1828800"/>
            <a:ext cx="24688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938528"/>
            <a:ext cx="219456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6A34A"/>
                </a:solidFill>
                <a:latin typeface="Arial"/>
              </a:defRPr>
            </a:pPr>
            <a:r>
              <a:t>4. Rapprochement &amp; Z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Calcul auto de l'écart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Théorique vs Réel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Édition Rapport Z PDF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Archivage comptable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106984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1596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LOGIQUE DU RAPPORT Z &amp; CALCUL DES ÉCARTS DE TRÉSORERIE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>
                <a:solidFill>
                  <a:srgbClr val="0F172A"/>
                </a:solidFill>
              </a:rPr>
              <a:t>📐 Solde Théorique Espèces = </a:t>
            </a:r>
            <a:r>
              <a:rPr>
                <a:solidFill>
                  <a:srgbClr val="475569"/>
                </a:solidFill>
              </a:rPr>
              <a:t>Fond Initial + Total Encaissements Espèces + Entrées Diverses - Sorties de Caisse</a:t>
            </a:r>
          </a:p>
          <a:p>
            <a:pPr>
              <a:spcAft>
                <a:spcPts val="200"/>
              </a:spcAft>
            </a:pPr>
            <a:r>
              <a:rPr b="1">
                <a:solidFill>
                  <a:srgbClr val="0F172A"/>
                </a:solidFill>
              </a:rPr>
              <a:t>⚖️ Calcul de l'Écart = </a:t>
            </a:r>
            <a:r>
              <a:rPr>
                <a:solidFill>
                  <a:srgbClr val="475569"/>
                </a:solidFill>
              </a:rPr>
              <a:t>Montant Physique Compté - Solde Théorique Calculé</a:t>
            </a:r>
          </a:p>
          <a:p>
            <a:pPr>
              <a:spcAft>
                <a:spcPts val="200"/>
              </a:spcAft>
            </a:pPr>
            <a:r>
              <a:rPr b="1">
                <a:solidFill>
                  <a:srgbClr val="0F172A"/>
                </a:solidFill>
              </a:rPr>
              <a:t>🟢 Cas Excédent (&gt; 0) : </a:t>
            </a:r>
            <a:r>
              <a:rPr>
                <a:solidFill>
                  <a:srgbClr val="475569"/>
                </a:solidFill>
              </a:rPr>
              <a:t>Somme en caisse supérieure aux ventes enregistrées (pourboire ou omission d'encaissement).</a:t>
            </a:r>
          </a:p>
          <a:p>
            <a:pPr>
              <a:spcAft>
                <a:spcPts val="200"/>
              </a:spcAft>
            </a:pPr>
            <a:r>
              <a:rPr b="1">
                <a:solidFill>
                  <a:srgbClr val="0F172A"/>
                </a:solidFill>
              </a:rPr>
              <a:t>🔴 Cas Manquant (&lt; 0) : </a:t>
            </a:r>
            <a:r>
              <a:rPr>
                <a:solidFill>
                  <a:srgbClr val="475569"/>
                </a:solidFill>
              </a:rPr>
              <a:t>Somme en caisse inférieure aux encaissements théoriques (erreur de monnaie rendue ou manquant caissier).</a:t>
            </a:r>
          </a:p>
          <a:p>
            <a:pPr>
              <a:spcAft>
                <a:spcPts val="200"/>
              </a:spcAft>
            </a:pPr>
            <a:r>
              <a:rPr b="1">
                <a:solidFill>
                  <a:srgbClr val="0F172A"/>
                </a:solidFill>
              </a:rPr>
              <a:t>📑 Inviolabilité : </a:t>
            </a:r>
            <a:r>
              <a:rPr>
                <a:solidFill>
                  <a:srgbClr val="475569"/>
                </a:solidFill>
              </a:rPr>
              <a:t>Le Rapport Z est scellé avec hash cryptographique et ne peut être altéré a posteriori.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GESTION TRIPARTITE DES MUTUELLES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Schéma 9 : Circuit du Tiers-Payant &amp; Remboursement Assurances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CONVENTIONS LOCALES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004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1. LE PATIENT ASSURÉ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94560"/>
            <a:ext cx="2834640" cy="16459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04288"/>
            <a:ext cx="2560320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Présentation des Justificatifs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Ordonnance médicale valide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Carte de mutuelle / assurance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Bon de prise en charge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Numéro de matricule assuré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14800"/>
            <a:ext cx="283464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24528"/>
            <a:ext cx="2560320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6A34A"/>
                </a:solidFill>
                <a:latin typeface="Arial"/>
              </a:defRPr>
            </a:pPr>
            <a:r>
              <a:t>Paiement Ticket Modérateur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Règlement immédiat de sa part (ex. 20%)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Ticket de caisse remis au patient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Mention claire de la part prise en charge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645920"/>
            <a:ext cx="32004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75564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2. L'OFFICINE (PHARMAGEST)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194560"/>
            <a:ext cx="283464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304288"/>
            <a:ext cx="2560320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D9488"/>
                </a:solidFill>
                <a:latin typeface="Arial"/>
              </a:defRPr>
            </a:pPr>
            <a:r>
              <a:t>Calcul Automatique en Caisse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Vérification convention assurance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Ventilation instantanée 80% / 20%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Déstockage FEFO normalisé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Facture certifiée OBR émise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4114800"/>
            <a:ext cx="283464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4224528"/>
            <a:ext cx="2560320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Génération des Bordereaux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Télétransmission mensuelle aux mutuelles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Export PDF &amp; Excel des ordonnances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Suivi des créances en attente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645920"/>
            <a:ext cx="32004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75564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Arial"/>
              </a:defRPr>
            </a:pPr>
            <a:r>
              <a:t>3. ORGANISME D'ASSURANCE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194560"/>
            <a:ext cx="2834640" cy="164592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2304288"/>
            <a:ext cx="2560320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7C3AED"/>
                </a:solidFill>
                <a:latin typeface="Arial"/>
              </a:defRPr>
            </a:pPr>
            <a:r>
              <a:t>Réception &amp; Contrôle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Vérification des bordereaux transmis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Contrôle des plafonds et ordonnances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Validation du remboursement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4114800"/>
            <a:ext cx="283464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4224528"/>
            <a:ext cx="2560320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6A34A"/>
                </a:solidFill>
                <a:latin typeface="Arial"/>
              </a:defRPr>
            </a:pPr>
            <a:r>
              <a:t>Règlement &amp; Lettrage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Virement bancaire vers l'officine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Lettrage des factures soldées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Clôture de la créance d'assurance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CONFORMITÉ FISCALE &amp; INTÉGRITÉ DES DONNÉES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Schéma 10 : Piste d'Audit Inviolable &amp; Sécurité des Données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MODULE : DELETION_LOG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4688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219456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1. Action Utilisateur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Tentative de suppression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ou rectification sensible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(Produit, Lot, Facture)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743200"/>
            <a:ext cx="22860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4688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938528"/>
            <a:ext cx="219456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DC2626"/>
                </a:solidFill>
                <a:latin typeface="Arial"/>
              </a:defRPr>
            </a:pPr>
            <a:r>
              <a:t>2. Intercepteur Backend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Hook SQLAlchemy actif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Contrôle de conformité OBR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Facture OBR = DELETE INTERDIT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9320" y="2743200"/>
            <a:ext cx="22860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4688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938528"/>
            <a:ext cx="219456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3. Archivage DeletionLog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Capture complète JSON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Horodatage certifié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Auteur (user_id) &amp; IP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Motif légal obligatoire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32520" y="2743200"/>
            <a:ext cx="22860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0" y="1828800"/>
            <a:ext cx="24688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938528"/>
            <a:ext cx="219456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6A34A"/>
                </a:solidFill>
                <a:latin typeface="Arial"/>
              </a:defRPr>
            </a:pPr>
            <a:r>
              <a:t>4. Audit &amp; Contrôle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Journal immuable (Append-Only)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Consultation par Super-Admin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Vérifiable par auditeurs fiscaux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106984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1596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STRUCTURE INVIOLABLE DE L'ENREGISTREMENT DANS LA TABLE DELETION_LOGS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  <a:latin typeface="Consolas"/>
              </a:defRPr>
            </a:pPr>
            <a:r>
              <a:t>{</a:t>
            </a:r>
            <a:br/>
            <a:r>
              <a:t>  "id": 1042,</a:t>
            </a:r>
            <a:br/>
            <a:r>
              <a:t>  "pharmacy_id": "PHARMA_CENTRE",</a:t>
            </a:r>
            <a:br/>
            <a:r>
              <a:t>  "user_id": 14,</a:t>
            </a:r>
            <a:br/>
            <a:r>
              <a:t>  "user_role": "admin",</a:t>
            </a:r>
            <a:br/>
            <a:r>
              <a:t>  "entity_type": "batch",</a:t>
            </a:r>
            <a:br/>
            <a:r>
              <a:t>  "entity_id": 89,</a:t>
            </a:r>
            <a:br/>
            <a:r>
              <a:t>  "reason": "Mise en quarantaine pour avarie emballage",</a:t>
            </a:r>
            <a:br/>
            <a:r>
              <a:t>  "deleted_data": { "batch_number": "LOT-2026-X89", "exp_date": "2026-11-30", "qty": 12, "pump": 1200 },</a:t>
            </a:r>
            <a:br/>
            <a:r>
              <a:t>  "timestamp": "2026-10-29T09:12:00Z"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SYNTHÈSE TOTALE DE L'ARCHITECTURE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Schéma 11 : Topologie Complète de l'Écosystème Fédéré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65760"/>
            <a:ext cx="2468880" cy="5029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🛡️ ÉCHELLE NATIONALE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645920"/>
            <a:ext cx="3749039" cy="466344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755648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Arial"/>
              </a:defRPr>
            </a:pPr>
            <a:r>
              <a:t>☁️ CLOUD SAAS CENTRAL (PHARMAGEST ONLINE)</a:t>
            </a:r>
          </a:p>
        </p:txBody>
      </p:sp>
      <p:sp>
        <p:nvSpPr>
          <p:cNvPr id="9" name="Can 8"/>
          <p:cNvSpPr/>
          <p:nvPr/>
        </p:nvSpPr>
        <p:spPr>
          <a:xfrm>
            <a:off x="4389120" y="2194560"/>
            <a:ext cx="3383280" cy="1645920"/>
          </a:xfrm>
          <a:prstGeom prst="can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423160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7C3AED"/>
                </a:solidFill>
                <a:latin typeface="Arial"/>
              </a:defRPr>
            </a:pPr>
            <a:r>
              <a:t>🗄️ Cluster MySQL Aiven</a:t>
            </a:r>
          </a:p>
          <a:p>
            <a:pPr algn="ctr">
              <a:defRPr sz="850">
                <a:solidFill>
                  <a:srgbClr val="475569"/>
                </a:solidFill>
                <a:latin typeface="Arial"/>
              </a:defRPr>
            </a:pPr>
            <a:r>
              <a:t>Base multi-tenant étanche</a:t>
            </a:r>
            <a:br/>
            <a:r>
              <a:t>Partitionnée par pharmacy_id</a:t>
            </a:r>
            <a:br/>
            <a:r>
              <a:t>Snapshots &amp; Haute Disponibilité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114800"/>
            <a:ext cx="33832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4224528"/>
            <a:ext cx="3108960" cy="1609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🖥️ Console Platform Admin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Onboarding de nouvelles pharmacies en 1 clic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Gestion des abonnements et clés de licence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Monitoring télémétrique et santé réseau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Mises à jour transparentes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645920"/>
            <a:ext cx="3108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75564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🏢 PARC DES OFFICINES (TENANTS)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194560"/>
            <a:ext cx="27432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304288"/>
            <a:ext cx="24688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D9488"/>
                </a:solidFill>
                <a:latin typeface="Arial"/>
              </a:defRPr>
            </a:pPr>
            <a:r>
              <a:t>Pharmacie A (Centre)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Caisse 1 &amp; Caisse 2 en réseau local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SQLite WAL local + Offline-First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NIF A certifié OBR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566160"/>
            <a:ext cx="27432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675888"/>
            <a:ext cx="24688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D9488"/>
                </a:solidFill>
                <a:latin typeface="Arial"/>
              </a:defRPr>
            </a:pPr>
            <a:r>
              <a:t>Pharmacie B (Gare)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Caisse tactile + Douchette Bluetooth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Déstockage FEFO &amp; Tiers-Payant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NIF B certifié OBR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937760"/>
            <a:ext cx="27432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047488"/>
            <a:ext cx="24688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D9488"/>
                </a:solidFill>
                <a:latin typeface="Arial"/>
              </a:defRPr>
            </a:pPr>
            <a:r>
              <a:t>Pharmacie C (Succursale)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Comptoir express &amp; Mobilité tablette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Synchronisation automatique idempotente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NIF C certifié OBR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645920"/>
            <a:ext cx="3108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75564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🏛️ RÉGULATION &amp; PARTENAIRES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2194560"/>
            <a:ext cx="2743200" cy="118872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2304288"/>
            <a:ext cx="24688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7C3AED"/>
                </a:solidFill>
                <a:latin typeface="Arial"/>
              </a:defRPr>
            </a:pPr>
            <a:r>
              <a:t>Office Burundais des Recettes (OBR)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Serveur EBMS officiel (Port 9443)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Certification fiscale des ventes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Vérification QR Code par le public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3566160"/>
            <a:ext cx="27432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80" y="3675888"/>
            <a:ext cx="24688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Grossistes Répartiteurs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Bons de commande dématérialisés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Bons de livraison pointés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Catalogue des prix fournisseurs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0" y="4937760"/>
            <a:ext cx="27432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5047488"/>
            <a:ext cx="24688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6A34A"/>
                </a:solidFill>
                <a:latin typeface="Arial"/>
              </a:defRPr>
            </a:pPr>
            <a:r>
              <a:t>Assurances &amp; Banques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Télétransmission des feuilles de soins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Mobile Money (Lumicash, EcoCash)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Arial"/>
              </a:defRPr>
            </a:pPr>
            <a:r>
              <a:t>• Règlements &amp; Lettrages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
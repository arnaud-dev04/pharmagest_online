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14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VOTRE PHARMACIE. SIMPLIFIÉE.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686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PharmaGest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 i="0">
                <a:solidFill>
                  <a:srgbClr val="CBD5E1"/>
                </a:solidFill>
                <a:latin typeface="Arial"/>
              </a:defRPr>
            </a:pPr>
            <a:r>
              <a:t>La solution complète pour gérer votre officine : ventes, stocks,</a:t>
            </a:r>
            <a:br/>
            <a:r>
              <a:t>fiscalité et rapports — au bout de vos doigts, même sans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🛒  Vente en 3 secondes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4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📦  Zéro médicament périmé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🧾  Factures légales automatiques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📊  Vos chiffres en temps réel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Qu'est-ce que PharmaGest Online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Pensez à un assistant ultra-compétent, disponible 24h/24, qui ne se trompe jamais.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B91C1C"/>
                </a:solidFill>
                <a:latin typeface="Arial"/>
              </a:defRPr>
            </a:pPr>
            <a:r>
              <a:t>😰 AVANT PHARMAGEST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📋  Registres papier qui se perdent ou se trompent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⏳  Clients qui attendent longtemps à la caisse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🔴  Médicaments périmés qu'on retrouve en rayon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😤  Factures fiscales à préparer manuellement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📞  Comptable à appeler pour connaître ses marges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💸  Erreurs de caisse difficiles à expliquer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657600"/>
            <a:ext cx="4114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0233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0" i="0">
                <a:solidFill>
                  <a:srgbClr val="0F172A"/>
                </a:solidFill>
                <a:latin typeface="Arial"/>
              </a:defRPr>
            </a:pPr>
            <a:r>
              <a:t>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737360"/>
            <a:ext cx="5120640" cy="4480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Arial"/>
              </a:defRPr>
            </a:pPr>
            <a:r>
              <a:t>✅ AVEC PHARMAGEST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23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💻  Tout est enregistré automatiquement et retrouvable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971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⚡  Vente bouclée en 3 secondes avec le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🌿  Logiciel vérifie lui-même les dates de péremption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69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🧾  Factures légales générées et envoyées automatiquement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177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📊  Vos chiffres s'affichent en direct sur l'écran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66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🎯  Caisse comptée et vérifiée chaque soir en quelques clics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Votre réseau de pharmacies — chacune chez 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Que vous ayez une seule officine ou un groupe entier, PharmaGest les gère toutes sans les mélanger.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Imaginez un grand immeuble sécurisé avec des appartements séparés. Chaque pharmacie a son propre appartement avec sa clé. Personne ne peut entrer chez les voisins. Mais le gérant de l'immeuble voit tout depuis son bureau.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017520" cy="2926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🏥 Pharmacie du Centre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46120"/>
            <a:ext cx="2651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Caisse 1 &amp; Caisse 2</a:t>
            </a:r>
            <a:br/>
            <a:r>
              <a:t>NIF propre</a:t>
            </a:r>
            <a:br/>
            <a:r>
              <a:t>Stock dédié</a:t>
            </a:r>
            <a:br/>
            <a:r>
              <a:t>Ordonnances locales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2560320"/>
            <a:ext cx="3017520" cy="29260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26974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Arial"/>
              </a:defRPr>
            </a:pPr>
            <a:r>
              <a:t>🏥 Pharmacie de la Gare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3246120"/>
            <a:ext cx="26517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333756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1 Caisse principale</a:t>
            </a:r>
            <a:br/>
            <a:r>
              <a:t>Son propre prix de vente</a:t>
            </a:r>
            <a:br/>
            <a:r>
              <a:t>Ses propres fournisseurs</a:t>
            </a:r>
            <a:br/>
            <a:r>
              <a:t>Ses propres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8896" y="2560320"/>
            <a:ext cx="3017520" cy="29260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6" y="26974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6D28D9"/>
                </a:solidFill>
                <a:latin typeface="Arial"/>
              </a:defRPr>
            </a:pPr>
            <a:r>
              <a:t>🏥 Pharmacie Nord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3246120"/>
            <a:ext cx="265176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333756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Comptoir Express</a:t>
            </a:r>
            <a:br/>
            <a:r>
              <a:t>Médecins partenaires locaux</a:t>
            </a:r>
            <a:br/>
            <a:r>
              <a:t>Assurances locales</a:t>
            </a:r>
            <a:br/>
            <a:r>
              <a:t>Inventaire propre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39696" y="5577840"/>
            <a:ext cx="201168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358384" y="5577840"/>
            <a:ext cx="201168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577072" y="5577840"/>
            <a:ext cx="201168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☁️  Serveur Central Sécurisé PharmaGest Online  —  Chaque pharmacie voit uniquement ses propres données, en toute confidentialité.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Comment ça marche : des pharmacies indépendantes sur un seul logiciel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Imaginez un immeuble de bureaux sécurisé. Chaque locataire a son propre espace. Personne ne peut entrer chez les autres.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498079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64748B"/>
                </a:solidFill>
                <a:latin typeface="Arial"/>
              </a:defRPr>
            </a:pPr>
            <a:r>
              <a:t>🏢  L'Immeuble PharmaGest Online  (Serveur Partagé dans le Cloud)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2148840" cy="3840480"/>
          </a:xfrm>
          <a:prstGeom prst="roundRect">
            <a:avLst/>
          </a:prstGeom>
          <a:solidFill>
            <a:srgbClr val="CCFBF1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43200" y="2423160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9572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0D9488"/>
                </a:solidFill>
                <a:latin typeface="Arial"/>
              </a:defRPr>
            </a:pPr>
            <a:r>
              <a:t>🔑 Appart. 1</a:t>
            </a:r>
            <a:br/>
            <a:r>
              <a:t>Pharmacie du Centre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090672"/>
            <a:ext cx="18745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82112"/>
            <a:ext cx="1874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Son prix d'Amoxicilline : 1 800 FBu</a:t>
            </a:r>
            <a:br/>
            <a:r>
              <a:t>Son stock : 140 boîtes</a:t>
            </a:r>
            <a:br/>
            <a:r>
              <a:t>Ses 3 caissiers</a:t>
            </a:r>
            <a:br/>
            <a:r>
              <a:t>Son accord avec CNAM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286000"/>
            <a:ext cx="2148840" cy="38404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74920" y="2423160"/>
            <a:ext cx="182880" cy="1828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39572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1D4ED8"/>
                </a:solidFill>
                <a:latin typeface="Arial"/>
              </a:defRPr>
            </a:pPr>
            <a:r>
              <a:t>🔑 Appart. 2</a:t>
            </a:r>
            <a:br/>
            <a:r>
              <a:t>Pharmacie de la Gare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090672"/>
            <a:ext cx="18745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182112"/>
            <a:ext cx="1874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Son prix d'Amoxicilline : 1 650 FBu</a:t>
            </a:r>
            <a:br/>
            <a:r>
              <a:t>Son stock : 85 boîtes</a:t>
            </a:r>
            <a:br/>
            <a:r>
              <a:t>Ses 2 caissiers</a:t>
            </a:r>
            <a:br/>
            <a:r>
              <a:t>Son accord avec Gras Savoye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286000"/>
            <a:ext cx="2148840" cy="38404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06640" y="2423160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39572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6D28D9"/>
                </a:solidFill>
                <a:latin typeface="Arial"/>
              </a:defRPr>
            </a:pPr>
            <a:r>
              <a:t>🔑 Appart. 3</a:t>
            </a:r>
            <a:br/>
            <a:r>
              <a:t>Pharmacie Nord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090672"/>
            <a:ext cx="187452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182112"/>
            <a:ext cx="1874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Son prix d'Amoxicilline : 1 720 FBu</a:t>
            </a:r>
            <a:br/>
            <a:r>
              <a:t>Son stock : 60 boîtes</a:t>
            </a:r>
            <a:br/>
            <a:r>
              <a:t>Ses 4 caissiers</a:t>
            </a:r>
            <a:br/>
            <a:r>
              <a:t>Son accord avec Ascoma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474720"/>
            <a:ext cx="45720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9240" y="3474720"/>
            <a:ext cx="45720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645920"/>
            <a:ext cx="3200400" cy="47548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17830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C2410C"/>
                </a:solidFill>
                <a:latin typeface="Arial"/>
              </a:defRPr>
            </a:pPr>
            <a:r>
              <a:t>👔 Le Gestionnaire</a:t>
            </a:r>
            <a:br/>
            <a:r>
              <a:t>    (Super Administrateur)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423160"/>
            <a:ext cx="2834640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60604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✔ Voit toutes les</a:t>
            </a:r>
            <a:br/>
            <a:r>
              <a:t>   pharmacies depuis</a:t>
            </a:r>
            <a:br/>
            <a:r>
              <a:t>   son tableau de bord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3558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✔ Peut créer une</a:t>
            </a:r>
            <a:br/>
            <a:r>
              <a:t>   nouvelle pharmacie</a:t>
            </a:r>
            <a:br/>
            <a:r>
              <a:t>   en 5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105656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✔ Suit les abonnements</a:t>
            </a:r>
            <a:br/>
            <a:r>
              <a:t>   et licences de chaque</a:t>
            </a:r>
            <a:br/>
            <a:r>
              <a:t>   officine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855464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✔ Mais ne peut PAS</a:t>
            </a:r>
            <a:br/>
            <a:r>
              <a:t>   voir les données</a:t>
            </a:r>
            <a:br/>
            <a:r>
              <a:t>   détaillées des clients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492240"/>
            <a:ext cx="10698480" cy="274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6556248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0D9488"/>
                </a:solidFill>
                <a:latin typeface="Arial"/>
              </a:defRPr>
            </a:pPr>
            <a:r>
              <a:t>🔐  Le cloisonnement est automatique et total. La Pharmacie A ne peut jamais voir les données de la Pharmacie B — même accidentellement.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Le même médicament, mais des données différentes dans chaque pharmacie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Chaque officine fixe ses propres prix, gère son propre stock et ses propres clients — en toute indépendance.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Exemple concret : 3 pharmacies vendent toutes l'Amoxicilline 500mg. Mais dans le logiciel, chacune a ses propres données — sans aucune interférence.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56032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5603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59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🏥 Pharmacie du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56032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59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🏥 Pharmacie de la Gare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286000"/>
            <a:ext cx="2560320" cy="54864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359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🏥 Pharmacie Nord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80360"/>
            <a:ext cx="25603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9718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💊 Prix de vente</a:t>
            </a:r>
            <a:br/>
            <a:r>
              <a:t>(Amoxicilline 500mg)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88036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29718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1 800 FBu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88036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29718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1 650 FBu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88036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29718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1 720 FBu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29000"/>
            <a:ext cx="25603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52044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📦 Stock actuel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429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352044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140 boîtes en rayon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429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352044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85 boîtes en rayon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3429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352044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60 boîtes en rayon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977640"/>
            <a:ext cx="25603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06908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🧾 Numéro fiscal (NIF)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97764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3008" y="406908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NIF : 4000-123456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97764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406908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NIF : 4000-987654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397764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406908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NIF : 4000-567890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526280"/>
            <a:ext cx="25603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61772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🏥 Assurance partenaire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452628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461772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CNAM (80%/20%)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52628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461772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Gras Savoye (70%/30%)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452628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461772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Ascoma (75%/25%)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074920"/>
            <a:ext cx="25603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16636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👥 Équipe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507492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93008" y="516636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3 caissiers + 2 pharma.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07492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516636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2 caissiers + 1 pharma.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5074920"/>
            <a:ext cx="25603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516636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4 caissiers + 3 pharma.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623560"/>
            <a:ext cx="25603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57150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💰 Marge appliquée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562356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93008" y="57150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+50% sur prix d'achat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562356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44768" y="57150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+43% sur prix d'achat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562356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96528" y="571500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+47% sur prix d'achat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6355080"/>
            <a:ext cx="10698480" cy="365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642823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15803D"/>
                </a:solidFill>
                <a:latin typeface="Arial"/>
              </a:defRPr>
            </a:pPr>
            <a:r>
              <a:t>✅  Chaque pharmacie est totalement libre de fixer ses prix, ses marges et ses partenariats. Aucune décision ne s'impose entre 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Pourquoi c'est important pour vous en tant que pharmacien ou investisseur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Ce fonctionnement vous apporte des avantages concrets, que vous ayez une ou plusieurs officines.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2057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1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  <a:latin typeface="Arial"/>
              </a:defRPr>
            </a:pPr>
            <a:r>
              <a:t>Vos données</a:t>
            </a:r>
            <a:br/>
            <a:r>
              <a:t>sont confidentielles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19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  <a:latin typeface="Arial"/>
              </a:defRPr>
            </a:pPr>
            <a:r>
              <a:t>Personne d'autre que vous ne peut voir vos ventes, vos marges ou votre liste de patients. Même l'équipe technique de PharmaGest ne consulte pas vos données médicales.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383280" cy="2057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3911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10311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Votre liberté</a:t>
            </a:r>
            <a:br/>
            <a:r>
              <a:t>commerciale totale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4319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  <a:latin typeface="Arial"/>
              </a:defRPr>
            </a:pPr>
            <a:r>
              <a:t>Vous fixez vous-même vos prix, vos remises et vos conventions d'assurance. Un autre pharmacien sur la même plateforme ne vous impose rien et ne vous concurrence pas via le logiciel.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74519"/>
            <a:ext cx="3383280" cy="20574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03911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10311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6D28D9"/>
                </a:solidFill>
                <a:latin typeface="Arial"/>
              </a:defRPr>
            </a:pPr>
            <a:r>
              <a:t>Grandir sans</a:t>
            </a:r>
            <a:br/>
            <a:r>
              <a:t>limite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74319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  <a:latin typeface="Arial"/>
              </a:defRPr>
            </a:pPr>
            <a:r>
              <a:t>Vous ouvrez une deuxième ou troisième pharmacie ? En quelques minutes, elle est créée dans le logiciel avec ses propres données, son propre NIF et son propre stock. Aucune confusion possible avec vos autres officines.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799"/>
            <a:ext cx="3383280" cy="2057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4339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Arial"/>
              </a:defRPr>
            </a:pPr>
            <a:r>
              <a:t>Un seul abonnement,</a:t>
            </a:r>
            <a:br/>
            <a:r>
              <a:t>un seul outil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7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  <a:latin typeface="Arial"/>
              </a:defRPr>
            </a:pPr>
            <a:r>
              <a:t>Vous n'avez pas besoin d'acheter un serveur ni de payer une équipe informatique. Vous partagez l'infrastructure avec d'autres pharmacies, donc le coût est divisé — mais vos données restent à vous seul.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114799"/>
            <a:ext cx="3383280" cy="2057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27939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👁️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434339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C2410C"/>
                </a:solidFill>
                <a:latin typeface="Arial"/>
              </a:defRPr>
            </a:pPr>
            <a:r>
              <a:t>Surveiller tout</a:t>
            </a:r>
            <a:br/>
            <a:r>
              <a:t>de votre bureau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98347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  <a:latin typeface="Arial"/>
              </a:defRPr>
            </a:pPr>
            <a:r>
              <a:t>Si vous êtes gérant d'un réseau de 3 pharmacies, vous voyez d'un seul coup d'œil les ventes, les stocks et les chiffres de chaque officine — sans bouger de votre siège.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114799"/>
            <a:ext cx="3383280" cy="2057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279391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434339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B91C1C"/>
                </a:solidFill>
                <a:latin typeface="Arial"/>
              </a:defRPr>
            </a:pPr>
            <a:r>
              <a:t>Chaque pharmacie</a:t>
            </a:r>
            <a:br/>
            <a:r>
              <a:t>reste elle-même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98347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  <a:latin typeface="Arial"/>
              </a:defRPr>
            </a:pPr>
            <a:r>
              <a:t>Les ordonnances, les patients et les dossiers médicaux ne se mélangent JAMAIS. La Pharmacie A ne voit pas les clients de la Pharmacie B, même s'ils partagent le même logiciel.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Au comptoir : une vente bouclée en 3 secondes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Le logiciel fait tout le travail. Votre équipe se concentre sur le patient.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Scanner le</a:t>
            </a:r>
            <a:br/>
            <a:r>
              <a:t>médicament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Le caissier scanne</a:t>
            </a:r>
            <a:br/>
            <a:r>
              <a:t>le code-barres ou</a:t>
            </a:r>
            <a:br/>
            <a:r>
              <a:t>cherche le nom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8728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Calcul</a:t>
            </a:r>
            <a:br/>
            <a:r>
              <a:t>automatique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Prix, taxes et</a:t>
            </a:r>
            <a:br/>
            <a:r>
              <a:t>monnaie à rendre</a:t>
            </a:r>
            <a:br/>
            <a:r>
              <a:t>calculés en 1 clic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82312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0136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0136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336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Encaissement</a:t>
            </a:r>
            <a:br/>
            <a:r>
              <a:t>facile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Espèces, téléphone</a:t>
            </a:r>
            <a:br/>
            <a:r>
              <a:t>(Mobile Money) ou</a:t>
            </a:r>
            <a:br/>
            <a:r>
              <a:t>carte bancaire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903720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81544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95744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Facture</a:t>
            </a:r>
            <a:br/>
            <a:r>
              <a:t>légale émise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Le reçu OBR officiel</a:t>
            </a:r>
            <a:br/>
            <a:r>
              <a:t>avec QR code est</a:t>
            </a:r>
            <a:br/>
            <a:r>
              <a:t>généré instantanément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025128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02952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7152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🖨️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Impression</a:t>
            </a:r>
            <a:br/>
            <a:r>
              <a:t>eutick papier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Le ticket sort en 2</a:t>
            </a:r>
            <a:br/>
            <a:r>
              <a:t>secondes sur votre</a:t>
            </a:r>
            <a:br/>
            <a:r>
              <a:t>imprimante caisse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6309360"/>
            <a:ext cx="10698480" cy="3657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🎯  Les remises et réductions ne peuvent être accordées que par les personnes autorisées — les erreurs et les abus sont évités.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Vos médicaments : aucune perte, aucune péremption ratée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Le logiciel surveille vos stocks à votre place — comme un gardien de rayon infaillible.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La règle de base : toujours vendre en premier les médicaments qui vont expirer le plus tôt. PharmaGest applique ça automatiquement, sans que votre équipe n'ait à y penser.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91840" cy="2743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594360" cy="3200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C2410C"/>
                </a:solidFill>
                <a:latin typeface="Arial"/>
              </a:defRPr>
            </a:pPr>
            <a:r>
              <a:t>📦 Lot A</a:t>
            </a:r>
            <a:br/>
            <a:r>
              <a:t>Reçu : Janvier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0F172A"/>
                </a:solidFill>
                <a:latin typeface="Arial"/>
              </a:defRPr>
            </a:pPr>
            <a:r>
              <a:t>Expire dans 2 mois 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C2410C"/>
                </a:solidFill>
                <a:latin typeface="Arial"/>
              </a:defRPr>
            </a:pPr>
            <a:r>
              <a:t>→ VENDU EN PREMIER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657600"/>
            <a:ext cx="201168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468880"/>
            <a:ext cx="3291840" cy="2743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606040"/>
            <a:ext cx="594360" cy="32004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  <a:latin typeface="Arial"/>
              </a:defRPr>
            </a:pPr>
            <a:r>
              <a:t>📦 Lot B</a:t>
            </a:r>
            <a:br/>
            <a:r>
              <a:t>Reçu :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39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0F172A"/>
                </a:solidFill>
                <a:latin typeface="Arial"/>
              </a:defRPr>
            </a:pPr>
            <a:r>
              <a:t>Expire dans 8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519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15803D"/>
                </a:solidFill>
                <a:latin typeface="Arial"/>
              </a:defRPr>
            </a:pPr>
            <a:r>
              <a:t>→ VENDU EN SECOND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35240" y="3657600"/>
            <a:ext cx="201168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2468880"/>
            <a:ext cx="3291840" cy="2743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2606040"/>
            <a:ext cx="59436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17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📦 Lot C</a:t>
            </a:r>
            <a:br/>
            <a:r>
              <a:t>Reçu : Juin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49039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0F172A"/>
                </a:solidFill>
                <a:latin typeface="Arial"/>
              </a:defRPr>
            </a:pPr>
            <a:r>
              <a:t>Expire dans 14 mois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2519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1D4ED8"/>
                </a:solidFill>
                <a:latin typeface="Arial"/>
              </a:defRPr>
            </a:pPr>
            <a:r>
              <a:t>→ VENDU EN DERNIER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🔔  Le logiciel vous prévient automatiquement avant que les médicaments n'expirent 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97880"/>
            <a:ext cx="3383280" cy="685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🟠 90 jours avant</a:t>
            </a:r>
            <a:br/>
            <a:r>
              <a:t>Prévenez votre fournisseur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5897880"/>
            <a:ext cx="338328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5989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🔴 30 jours avant</a:t>
            </a:r>
            <a:br/>
            <a:r>
              <a:t>Promotion ou retour en urgence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0416" y="5897880"/>
            <a:ext cx="3383280" cy="6858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5989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⛔ Date dépassée</a:t>
            </a:r>
            <a:br/>
            <a:r>
              <a:t>Bloqué automatiquement à la vente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La caisse : plus jamais d'écart inexpliqué le soir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Votre caissier ouvre, vend, compte et ferme. Le logiciel vérifie tout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D4ED8"/>
                </a:solidFill>
                <a:latin typeface="Arial"/>
              </a:defRPr>
            </a:pPr>
            <a:r>
              <a:t>🌅 MATIN — Ouverture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468880"/>
            <a:ext cx="2276856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Votre caissier déclare le montant en caisse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Ex : 50 000 FBu pour démarrer la journée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enregistre l'heure et la somme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46704" y="365760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691640"/>
            <a:ext cx="260604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5803D"/>
                </a:solidFill>
                <a:latin typeface="Arial"/>
              </a:defRPr>
            </a:pPr>
            <a:r>
              <a:t>☀️ JOURNÉE — Ventes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468880"/>
            <a:ext cx="2276856" cy="228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Chaque vente est enregistrée en temps réel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total disponible se met à jour à chaque encaissement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Sorties approuvées également enregistrées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53912" y="365760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45936" y="1691640"/>
            <a:ext cx="2606040" cy="4389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C2410C"/>
                </a:solidFill>
                <a:latin typeface="Arial"/>
              </a:defRPr>
            </a:pPr>
            <a:r>
              <a:t>🌇 SOIR — Comptage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2468880"/>
            <a:ext cx="2276856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Votre caissier compte l'argent physiquement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Il saisit la somme — sans voir le total attendu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Honnêteté garantie : il ne peut pas tricher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61120" y="365760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1691640"/>
            <a:ext cx="2606040" cy="43891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6D28D9"/>
                </a:solidFill>
                <a:latin typeface="Arial"/>
              </a:defRPr>
            </a:pPr>
            <a:r>
              <a:t>📋 RÉSULTAT — Rapport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7736" y="2468880"/>
            <a:ext cx="2276856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compare automatiquement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Excédent ou manquant indiqué à l'euro près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Rapport Z officiel généré pour la comptabilité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263640"/>
            <a:ext cx="10698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3276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15803D"/>
                </a:solidFill>
                <a:latin typeface="Arial"/>
              </a:defRPr>
            </a:pPr>
            <a:r>
              <a:t>✅  Plusieurs caisses en simultané ? Chacune a son propre rapport. Vous comparez tout depuis votre bureau.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Assurances &amp; mutuelles : calculées automatiquement, réclamées facilement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Votre caissier n'a plus besoin de calculer la part de la mutuelle à la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Pour chaque patient assuré, le logiciel répartit automatiquement qui paie quoi — le patient règle sa part immédiatement, et la pharmacie réclame le reste à la mutuelle à la fin du mois.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3291840" cy="374903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Arial"/>
              </a:defRPr>
            </a:pPr>
            <a:r>
              <a:t>👤 LE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Présente sa carte mutuelle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calcule sa part (ex. 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Il paye uniquement ce qu'il doit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Reçoit un reçu clair et lisible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560320"/>
            <a:ext cx="3291840" cy="3749039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💊 LA PHARMACIE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91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Aucun calcul manuel n'est nécessaire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La créance est enregistrée automatiquement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Bordereau de remboursement prêt en 1 clic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Suivi de qui a remboursé, qui ne l'a pas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560320"/>
            <a:ext cx="3291840" cy="3749039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Arial"/>
              </a:defRPr>
            </a:pPr>
            <a:r>
              <a:t>🏥 L'ASSURANCE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91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Reçoit le bordereau préparé par le logiciel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Vérifie et valide les ordonnances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Vire le montant sur votre compte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La pharmacie enregistre le règlement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06240" y="4297680"/>
            <a:ext cx="22860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863840" y="4297680"/>
            <a:ext cx="22860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6446520"/>
            <a:ext cx="10698480" cy="3200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501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C2410C"/>
                </a:solidFill>
                <a:latin typeface="Arial"/>
              </a:defRPr>
            </a:pPr>
            <a:r>
              <a:t>🔔  Vous voyez en temps réel combien vous attendez encore de remboursement — et combien de temps ça fait que vous attendez.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Facturation légale (OBR) : le logiciel remplace vos déclarations manuelles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Chaque vente génère automatiquement une facture officielle reconnue par l'État burundais.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Comme un caissier de supermarché qui imprime automatiquement un reçu certifié — sauf que ici, c'est l'État burundais qui reconnaît ce reçu comme preuve fiscale officielle. Zéro déclaration manuelle.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120640" cy="4297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Arial"/>
              </a:defRPr>
            </a:pPr>
            <a:r>
              <a:t>😓 Sans PharmaGest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Factures manuelles sur papier ou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Transmission mensuelle fastidieuse à l'OBR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Risque d'oubli, d'erreur ou de retard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Pénalités fiscales possibles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Impossible de retrouver une ancienne facture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Annuler une vente : un casse-tête administratif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23160"/>
            <a:ext cx="5212080" cy="4297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✅ Avec PharmaGest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Facture OBR certifiée émise à chaque vente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Envoi automatique en temps réel à l'OBR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QR code scannable par l'agent des impôts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Zéro pénalité — conformité garantie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66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Retrouvez toute facture en quelques secondes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669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Annulation encadrée et traçable — sans risque légal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4648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C2410C"/>
                </a:solidFill>
                <a:latin typeface="Arial"/>
              </a:defRPr>
            </a:pPr>
            <a:r>
              <a:t>📶  Internet coupé ? Pas de panique. Le logiciel continue à vendre et à imprimer des reçus signés. Les factures sont envoyées à l'OBR dès le retour du réseau.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Vos chiffres en direct — sans attendre le comptable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En un coup d'œil, vous savez exactement comment se porte votre officine.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965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57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Chiffre d'affaires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du jour, de la semaine</a:t>
            </a:r>
            <a:br/>
            <a:r>
              <a:t>ou de l'année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28800"/>
            <a:ext cx="3383280" cy="1965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057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Arial"/>
              </a:defRPr>
            </a:pPr>
            <a:r>
              <a:t>Votre marge brute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9748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ce que vous gagnez</a:t>
            </a:r>
            <a:br/>
            <a:r>
              <a:t>réellement sur chaque vente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28800"/>
            <a:ext cx="3383280" cy="1965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9659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057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Arial"/>
              </a:defRPr>
            </a:pPr>
            <a:r>
              <a:t>Top des ventes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69748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vos 5 médicaments</a:t>
            </a:r>
            <a:br/>
            <a:r>
              <a:t>les plus vendus ce mois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40"/>
            <a:ext cx="3383280" cy="19659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14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06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Arial"/>
              </a:defRPr>
            </a:pPr>
            <a:r>
              <a:t>État de votre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84632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ce qui manque, ce qui</a:t>
            </a:r>
            <a:br/>
            <a:r>
              <a:t>va bientôt expirer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77640"/>
            <a:ext cx="3383280" cy="1965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114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4206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Arial"/>
              </a:defRPr>
            </a:pPr>
            <a:r>
              <a:t>Valeur de votre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4632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ce que vaut votre inventaire</a:t>
            </a:r>
            <a:br/>
            <a:r>
              <a:t>au prix d'achat et de vente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3977640"/>
            <a:ext cx="3383280" cy="1965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114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4206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Arial"/>
              </a:defRPr>
            </a:pPr>
            <a:r>
              <a:t>Clients en attente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484632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les comptes crédits</a:t>
            </a:r>
            <a:br/>
            <a:r>
              <a:t>et remboursements dus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263640"/>
            <a:ext cx="10698480" cy="4114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3276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D9488"/>
                </a:solidFill>
                <a:latin typeface="Arial"/>
              </a:defRPr>
            </a:pPr>
            <a:r>
              <a:t>📱  Consultez vos chiffres depuis votre téléphone, votre tablette ou votre ordinateur — où que vous soyez.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Coupure d'Internet ? Votre pharmacie continue de tourner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PharmaGest est conçu pour fonctionner même quand le réseau est absent.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Comme votre téléphone portable qui prend vos photos même sans réseau — et les envoie quand la connexion revient. PharmaGest fait pareil avec vos ventes.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3383280" cy="40233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C2410C"/>
                </a:solidFill>
                <a:latin typeface="Arial"/>
              </a:defRPr>
            </a:pPr>
            <a:r>
              <a:t>📴 RÉSEAU COUPÉ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3017520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Vous continuez à vendre normalement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médicaments sont bien déstockés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068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tickets s'impriment sans attendre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3717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factures sont signées localement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67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L'écran affiche : 'Mode hors-ligne actif'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23160"/>
            <a:ext cx="3383280" cy="4023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🔄 EN MÉMOIRE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108960"/>
            <a:ext cx="30175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Toutes les ventes sont sauvegardées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Un identifiant unique évite les doublons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068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Aucune perte de données, jamais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3717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attend patiemment le réseau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Vous ne perdez pas un seul centime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423160"/>
            <a:ext cx="3383280" cy="4023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  <a:latin typeface="Arial"/>
              </a:defRPr>
            </a:pPr>
            <a:r>
              <a:t>📡 RÉSEAU REVIENT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108960"/>
            <a:ext cx="301752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Synchronisation automatique en quelques secondes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764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Toutes les ventes remontent dans le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068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factures sont envoyées à l'OBR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3717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Vos tableaux de bord se mettent à jour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367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Rien à faire — c'est entièrement automatique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206240" y="4297680"/>
            <a:ext cx="146304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863840" y="4297680"/>
            <a:ext cx="146304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6583680"/>
            <a:ext cx="10698480" cy="228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629400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15803D"/>
                </a:solidFill>
                <a:latin typeface="Arial"/>
              </a:defRPr>
            </a:pPr>
            <a:r>
              <a:t>✅  Garanti sans perte de données. Garanti sans interruption de service. Garanti pour votre tranquillité.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Votre tranquillité : qui accède à quoi, et tout est tracé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Vous choisissez qui peut faire quoi dans votre pharmacie. Le reste est automatiquement protégé.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606040" cy="4114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7068" y="2011680"/>
            <a:ext cx="685800" cy="685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7068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6D28D9"/>
                </a:solidFill>
                <a:latin typeface="Arial"/>
              </a:defRPr>
            </a:pPr>
            <a:r>
              <a:t>Le Pharmacien Titulaire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Voit tout et configure tout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Règle les prix et les marges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Gère les accès de son équipe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Consulte les rapports complets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1874519"/>
            <a:ext cx="2606040" cy="4114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4276" y="2011680"/>
            <a:ext cx="685800" cy="685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4276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1D4ED8"/>
                </a:solidFill>
                <a:latin typeface="Arial"/>
              </a:defRPr>
            </a:pPr>
            <a:r>
              <a:t>Le Pharmacien Adjoint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Gère les commandes fournisseurs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Valide les réceptions en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Délivre sur ordonnance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Ne peut pas modifier les prix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1874519"/>
            <a:ext cx="2606040" cy="4114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1484" y="201168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1484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D9488"/>
                </a:solidFill>
                <a:latin typeface="Arial"/>
              </a:defRPr>
            </a:pPr>
            <a:r>
              <a:t>Le Gestionnaire 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Réceptionne et contrôle les livraisons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Fait les inventaires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Vérifie les dates de péremption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N'a pas accès à la caisse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3144" y="1874519"/>
            <a:ext cx="2606040" cy="4114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08692" y="2011680"/>
            <a:ext cx="685800" cy="6858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8692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15803D"/>
                </a:solidFill>
                <a:latin typeface="Arial"/>
              </a:defRPr>
            </a:pPr>
            <a:r>
              <a:t>Le Caissier/Vendeur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Vend et encaisse uniquement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Ouvre et ferme sa caisse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Ne peut pas modifier les stocks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Ne voit pas les données des collègues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1722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🔒  En plus des rôles, chaque action est enregistrée avec l'heure et le nom de la personne. Si un médicament disparaît du stock sans explication, vous savez qui, quand et pourquoi.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Ce que vous gagnez concrètement chaque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Des bénéfices visibles, mesurables, dès la première semaine.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2011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0311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Du temps libéré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Vos équipes passent moins de temps</a:t>
            </a:r>
            <a:br/>
            <a:r>
              <a:t>à chercher, à calculer, à corriger.</a:t>
            </a:r>
            <a:br/>
            <a:r>
              <a:t>Ils se concentrent sur le patient.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383280" cy="20116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3911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10311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Arial"/>
              </a:defRPr>
            </a:pPr>
            <a:r>
              <a:t>De l'argent économisé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7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Zéro médicament périmé perdu.</a:t>
            </a:r>
            <a:br/>
            <a:r>
              <a:t>Moins d'erreurs de caisse.</a:t>
            </a:r>
            <a:br/>
            <a:r>
              <a:t>Marge réelle connue chaque jour.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74519"/>
            <a:ext cx="338328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03911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10311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Arial"/>
              </a:defRPr>
            </a:pPr>
            <a:r>
              <a:t>La conformité légale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69747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Toutes vos factures sont légales.</a:t>
            </a:r>
            <a:br/>
            <a:r>
              <a:t>Zéro risque de pénalité OBR.</a:t>
            </a:r>
            <a:br/>
            <a:r>
              <a:t>Votre comptable respire mieux.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79"/>
            <a:ext cx="338328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9767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Arial"/>
              </a:defRPr>
            </a:pPr>
            <a:r>
              <a:t>La sérénité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3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Vous dormez tranquille.</a:t>
            </a:r>
            <a:br/>
            <a:r>
              <a:t>Vos données sont sauvegardées.</a:t>
            </a:r>
            <a:br/>
            <a:r>
              <a:t>Même si la connexion tombe.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069079"/>
            <a:ext cx="3383280" cy="2011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23367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429767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Arial"/>
              </a:defRPr>
            </a:pPr>
            <a:r>
              <a:t>La croissance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89203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Vous connaissez vos produits</a:t>
            </a:r>
            <a:br/>
            <a:r>
              <a:t>les plus rentables. Vous prenez</a:t>
            </a:r>
            <a:br/>
            <a:r>
              <a:t>de meilleures décisions d'achat.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069079"/>
            <a:ext cx="3383280" cy="2011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23367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429767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L'évolutivité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89203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Ouvrez une 2e, 3e pharmacie.</a:t>
            </a:r>
            <a:br/>
            <a:r>
              <a:t>Le logiciel s'adapte à votre rythme.</a:t>
            </a:r>
            <a:br/>
            <a:r>
              <a:t>Sans tout recommencer de zéro.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14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 i="0">
                <a:solidFill>
                  <a:srgbClr val="0D9488"/>
                </a:solidFill>
                <a:latin typeface="Arial"/>
              </a:defRPr>
            </a:pPr>
            <a:r>
              <a:t>Prêt à transformer votre officine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PharmaGest Online</a:t>
            </a:r>
            <a:br/>
            <a:r>
              <a:t>vous accompagne.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Mise en route rapide — vous êtes opérationnel en quelques heures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87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Formation incluse pour vos équipes au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54296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Support disponible pour répondre à vos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212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Vos données restent les vôtres, sécurisées et confidentielles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760720"/>
            <a:ext cx="8229600" cy="822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943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💊  Pour votre pharmacie. Pour vos patients. Pour votre sérénité.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
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2560320"/>
            <a:ext cx="5029200" cy="5029200"/>
          </a:xfrm>
          <a:prstGeom prst="ellipse">
            <a:avLst/>
          </a:prstGeom>
          <a:solidFill>
            <a:srgbClr val="14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0D9488"/>
                </a:solidFill>
                <a:latin typeface="Times New Roman"/>
              </a:defRPr>
            </a:pPr>
            <a:r>
              <a:t>VOTRE PHARMACIE. SIMPLIFIÉE.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Times New Roman"/>
              </a:defRPr>
            </a:pPr>
            <a:r>
              <a:t>PharmaGest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0" i="0">
                <a:solidFill>
                  <a:srgbClr val="CBD5E1"/>
                </a:solidFill>
                <a:latin typeface="Times New Roman"/>
              </a:defRPr>
            </a:pPr>
            <a:r>
              <a:t>La solution complète pour gérer votre officine : ventes, stocks,</a:t>
            </a:r>
            <a:br/>
            <a:r>
              <a:t>fiscalité et rapports — au bout de vos doigts, même sans Internet.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754880"/>
            <a:ext cx="24688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28016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🛒  Vente en 3 secondes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2464" y="4754880"/>
            <a:ext cx="24688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28016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📦  Zéro médicament périmé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9088" y="4754880"/>
            <a:ext cx="24688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28016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🧾  Factures légales automatiques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4754880"/>
            <a:ext cx="24688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28016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📊  Vos chiffres en temps réel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Qu'est-ce que PharmaGest Online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Pensez à un assistant ultra-compétent, disponible 24h/24, qui ne se trompe jamais.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20640" cy="4572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B91C1C"/>
                </a:solidFill>
                <a:latin typeface="Times New Roman"/>
              </a:defRPr>
            </a:pPr>
            <a:r>
              <a:t>😰  AVANT PHARMAGEST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B91C1C"/>
                </a:solidFill>
                <a:latin typeface="Times New Roman"/>
              </a:defRPr>
            </a:pPr>
            <a:r>
              <a:t>❌  📋 Registres papier perdus ou trompés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B91C1C"/>
                </a:solidFill>
                <a:latin typeface="Times New Roman"/>
              </a:defRPr>
            </a:pPr>
            <a:r>
              <a:t>❌  ⏳ Files d'attente longues à la caisse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B91C1C"/>
                </a:solidFill>
                <a:latin typeface="Times New Roman"/>
              </a:defRPr>
            </a:pPr>
            <a:r>
              <a:t>❌  🔴 Médicaments périmés en rayon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B91C1C"/>
                </a:solidFill>
                <a:latin typeface="Times New Roman"/>
              </a:defRPr>
            </a:pPr>
            <a:r>
              <a:t>❌  😤 Factures fiscales faites à la 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B91C1C"/>
                </a:solidFill>
                <a:latin typeface="Times New Roman"/>
              </a:defRPr>
            </a:pPr>
            <a:r>
              <a:t>❌  📞 Comptable pour connaître ses marges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B91C1C"/>
                </a:solidFill>
                <a:latin typeface="Times New Roman"/>
              </a:defRPr>
            </a:pPr>
            <a:r>
              <a:t>❌  💸 Erreurs de caisse difficiles à expliquer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3749039"/>
            <a:ext cx="384048" cy="25603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1691640"/>
            <a:ext cx="5120640" cy="4572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8288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5803D"/>
                </a:solidFill>
                <a:latin typeface="Times New Roman"/>
              </a:defRPr>
            </a:pPr>
            <a:r>
              <a:t>✅  AVEC PHARMAGEST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2316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✅  💻 Tout enregistré automatiquement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97180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✅  ⚡ Vente bouclée en 3 secondes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52044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✅  🌿 Dates de péremption vérifiées en continu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06908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✅  🧾 Factures OBR générées instantanément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61772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✅  📊 Vos chiffres s'affichent en direct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166360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✅  🎯 Caisse vérifiée chaque soir en quelques clics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Votre réseau de pharmacies — chacune chez 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Qu'il s'agisse d'une seule officine ou d'un groupe entier, PharmaGest les gère toutes sans les mélanger.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💡  Imaginez un grand immeuble sécurisé avec des appartements séparés. Chaque pharmacie a sa propre clé. Personne ne peut entrer chez le voisin. Mais le gérant de l'immeuble voit tout depuis son bureau.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3017520" cy="3108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D4ED8"/>
                </a:solidFill>
                <a:latin typeface="Times New Roman"/>
              </a:defRPr>
            </a:pPr>
            <a:r>
              <a:t>🏥 Pharmacie du Centre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54680"/>
            <a:ext cx="265176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26517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Caisse 1 &amp; Caisse 2</a:t>
            </a:r>
            <a:br/>
            <a:r>
              <a:t>NIF propre</a:t>
            </a:r>
            <a:br/>
            <a:r>
              <a:t>Stock dédié</a:t>
            </a:r>
            <a:br/>
            <a:r>
              <a:t>Ordonnances locales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208" y="2468880"/>
            <a:ext cx="3017520" cy="31089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26060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D9488"/>
                </a:solidFill>
                <a:latin typeface="Times New Roman"/>
              </a:defRPr>
            </a:pPr>
            <a:r>
              <a:t>🏥 Pharmacie de la Gare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8" y="3154680"/>
            <a:ext cx="26517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3088" y="3246120"/>
            <a:ext cx="26517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1 Caisse principale</a:t>
            </a:r>
            <a:br/>
            <a:r>
              <a:t>Son propre prix de vente</a:t>
            </a:r>
            <a:br/>
            <a:r>
              <a:t>Ses propres fournisseurs</a:t>
            </a:r>
            <a:br/>
            <a:r>
              <a:t>Ses propres clients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68896" y="2468880"/>
            <a:ext cx="3017520" cy="31089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6" y="26060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6D28D9"/>
                </a:solidFill>
                <a:latin typeface="Times New Roman"/>
              </a:defRPr>
            </a:pPr>
            <a:r>
              <a:t>🏥 Pharmacie Nord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51776" y="3154680"/>
            <a:ext cx="2651760" cy="274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6" y="3246120"/>
            <a:ext cx="26517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Comptoir Express</a:t>
            </a:r>
            <a:br/>
            <a:r>
              <a:t>Médecins partenaires locaux</a:t>
            </a:r>
            <a:br/>
            <a:r>
              <a:t>Assurances locales</a:t>
            </a:r>
            <a:br/>
            <a:r>
              <a:t>Inventaire propre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130552" y="5650992"/>
            <a:ext cx="219456" cy="246888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5349240" y="5650992"/>
            <a:ext cx="219456" cy="246888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8567928" y="5650992"/>
            <a:ext cx="219456" cy="246888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94360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8076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Times New Roman"/>
              </a:defRPr>
            </a:pPr>
            <a:r>
              <a:t>☁️   Serveur Central Sécurisé PharmaGest Online  —  Chaque pharmacie voit uniquement ses propres données, en toute confidentialité.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Qui crée quoi ? Les trois niveaux de 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L'administrateur de la plateforme crée les pharmacies. Chaque pharmacie gère ensuite sa propre équipe.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5577840" cy="141732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A16207"/>
                </a:solidFill>
                <a:latin typeface="Times New Roman"/>
              </a:defRPr>
            </a:pPr>
            <a:r>
              <a:t>👑  Administrateur de la Plateforme PharmaGest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3172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Crée les pharmacies et nomme leur administrateur titulaire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0176" y="3108960"/>
            <a:ext cx="237744" cy="365760"/>
          </a:xfrm>
          <a:prstGeom prst="downArrow">
            <a:avLst/>
          </a:prstGeom>
          <a:solidFill>
            <a:srgbClr val="A1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3127248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0" i="1">
                <a:solidFill>
                  <a:srgbClr val="A16207"/>
                </a:solidFill>
                <a:latin typeface="Times New Roman"/>
              </a:defRPr>
            </a:pPr>
            <a:r>
              <a:t>Crée &amp; configure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5120640" cy="16002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D9488"/>
                </a:solidFill>
                <a:latin typeface="Times New Roman"/>
              </a:defRPr>
            </a:pPr>
            <a:r>
              <a:t>🏥 Admin — Pharmacie du Centre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06240"/>
            <a:ext cx="475488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Nomme son équipe</a:t>
            </a:r>
            <a:br/>
            <a:r>
              <a:t>Fixe les prix &amp; marges</a:t>
            </a:r>
            <a:br/>
            <a:r>
              <a:t>Active la conformité OBR</a:t>
            </a:r>
            <a:br/>
            <a:r>
              <a:t>Gère les assurances partenaires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520440"/>
            <a:ext cx="5120640" cy="160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6576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D4ED8"/>
                </a:solidFill>
                <a:latin typeface="Times New Roman"/>
              </a:defRPr>
            </a:pPr>
            <a:r>
              <a:t>🏥 Admin — Pharmacie de la Gare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206240"/>
            <a:ext cx="475488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315968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Nomme son équipe</a:t>
            </a:r>
            <a:br/>
            <a:r>
              <a:t>Fixe ses propres prix</a:t>
            </a:r>
            <a:br/>
            <a:r>
              <a:t>Choisit ses fournisseurs</a:t>
            </a:r>
            <a:br/>
            <a:r>
              <a:t>Consulte ses rapports Z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182112" y="5166360"/>
            <a:ext cx="219456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8577072" y="5166360"/>
            <a:ext cx="219456" cy="32004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5184648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Crée les utilisateurs de son officine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59552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687568"/>
            <a:ext cx="223113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imes New Roman"/>
              </a:defRPr>
            </a:pPr>
            <a:r>
              <a:t>💊  Pharmacien Adjoint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6199632"/>
            <a:ext cx="22311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Accès limité à son rôle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93008" y="5559552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5687568"/>
            <a:ext cx="223113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imes New Roman"/>
              </a:defRPr>
            </a:pPr>
            <a:r>
              <a:t>📦  Gestionnaire 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6199632"/>
            <a:ext cx="22311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Accès limité à son rôle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5559552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5687568"/>
            <a:ext cx="223113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imes New Roman"/>
              </a:defRPr>
            </a:pPr>
            <a:r>
              <a:t>🛒  Caissier / Vendeur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6199632"/>
            <a:ext cx="22311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Accès limité à son rôle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15984" y="5559552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0576" y="5687568"/>
            <a:ext cx="223113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F172A"/>
                </a:solidFill>
                <a:latin typeface="Times New Roman"/>
              </a:defRPr>
            </a:pPr>
            <a:r>
              <a:t>👁️  Responsable Comptable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576" y="6199632"/>
            <a:ext cx="22311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Accès limité à son rôle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L'Administrateur PharmaGest : le gérant de l'immeuble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Il ne fait pas les ventes — il construit le cadre dans lequel chaque pharmacie travaille.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114800" cy="484632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A16207"/>
                </a:solidFill>
                <a:latin typeface="Times New Roman"/>
              </a:defRPr>
            </a:pPr>
            <a:r>
              <a:t>👑  Ce qu'il peut faire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3749039" cy="27432"/>
          </a:xfrm>
          <a:prstGeom prst="rect">
            <a:avLst/>
          </a:prstGeom>
          <a:solidFill>
            <a:srgbClr val="A1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✔  Créer une nouvelle pharmacie en 5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45536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✔  Nommer l'administrateur (titulaire) de cette pharmacie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12464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✔  Activer ou suspendre une licence d'officine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79392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✔  Surveiller la santé globale du réseau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✔  Voir si les synchronisations fonctionnent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13248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✔  Gérer les abonnements et renouvellements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691640"/>
            <a:ext cx="6400800" cy="4846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82880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 i="0">
                <a:solidFill>
                  <a:srgbClr val="B91C1C"/>
                </a:solidFill>
                <a:latin typeface="Times New Roman"/>
              </a:defRPr>
            </a:pPr>
            <a:r>
              <a:t>🔒  Ce qu'il ne peut PAS faire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423160"/>
            <a:ext cx="6035040" cy="2743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578608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B91C1C"/>
                </a:solidFill>
                <a:latin typeface="Times New Roman"/>
              </a:defRPr>
            </a:pPr>
            <a:r>
              <a:t>❌ Voir les prix de vente d'une pharmacie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90779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   ↳ Les tarifs sont la propriété commerciale de chaque officine.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218688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B91C1C"/>
                </a:solidFill>
                <a:latin typeface="Times New Roman"/>
              </a:defRPr>
            </a:pPr>
            <a:r>
              <a:t>❌ Accéder aux dossiers médicaux des patients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54787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   ↳ La confidentialité médicale est protégée par conception.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858768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B91C1C"/>
                </a:solidFill>
                <a:latin typeface="Times New Roman"/>
              </a:defRPr>
            </a:pPr>
            <a:r>
              <a:t>❌ Consulter les ventes ou les factures d'une pharmacie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18795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   ↳ Seul le titulaire de l'officine voit ses propres transactions.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498848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B91C1C"/>
                </a:solidFill>
                <a:latin typeface="Times New Roman"/>
              </a:defRPr>
            </a:pPr>
            <a:r>
              <a:t>❌ Modifier les stocks ou les inventaires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82803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   ↳ Chaque pharmacie est seule maître de son stock physique.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138928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B91C1C"/>
                </a:solidFill>
                <a:latin typeface="Times New Roman"/>
              </a:defRPr>
            </a:pPr>
            <a:r>
              <a:t>❌ Imprimer ou annuler une facture OBR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46811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   ↳ L'intégrité fiscale est réservée à l'officine concernée.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L'Administrateur de la Pharmacie : le patron de son officine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Nommé par l'Admin Plateforme, il est entièrement libre de gérer son équipe et ses données.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83280" cy="484632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A1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47088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1️⃣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9202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A16207"/>
                </a:solidFill>
                <a:latin typeface="Times New Roman"/>
              </a:defRPr>
            </a:pPr>
            <a:r>
              <a:t>Il reçoit son accès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487168"/>
            <a:ext cx="3017520" cy="27432"/>
          </a:xfrm>
          <a:prstGeom prst="rect">
            <a:avLst/>
          </a:prstGeom>
          <a:solidFill>
            <a:srgbClr val="A1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3347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L'Admin Plateforme crée sa pharmacie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Il reçoit ses identifiants de connexion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6732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Il configure son NIF et ses clés OBR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3425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Son officine est prête en quelques minutes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1691640"/>
            <a:ext cx="3383280" cy="48463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98848" y="1828800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847088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2️⃣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19202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D9488"/>
                </a:solidFill>
                <a:latin typeface="Times New Roman"/>
              </a:defRPr>
            </a:pPr>
            <a:r>
              <a:t>Il construit son équipe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2487168"/>
            <a:ext cx="301752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63347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Il crée lui-même ses utilisateurs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20040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Il assigne un rôle précis à chacun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376732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Un caissier ne voit que la caisse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33425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Un pharmacien gère les ordonnances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0416" y="1691640"/>
            <a:ext cx="3383280" cy="4846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83296" y="1828800"/>
            <a:ext cx="594360" cy="59436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1847088"/>
            <a:ext cx="594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3️⃣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6" y="19202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D4ED8"/>
                </a:solidFill>
                <a:latin typeface="Times New Roman"/>
              </a:defRPr>
            </a:pPr>
            <a:r>
              <a:t>Il pilote son officine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2487168"/>
            <a:ext cx="30175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263347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Il fixe ses prix et ses marges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320040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Il choisit ses fournisseurs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376732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Il configure les assurances partenaires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433425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Il consulte ses rapports chaque soir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565392"/>
            <a:ext cx="10698480" cy="20116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660196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Times New Roman"/>
              </a:defRPr>
            </a:pPr>
            <a:r>
              <a:t>✅  Chaque administrateur de pharmacie est totalement autonome. Il ne dépend des autres pharmacies pour rien.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Les rôles dans une pharmacie : chacun à sa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L'Admin Pharmacie crée ses collaborateurs et leur assigne un rôle précis — ni plus, ni moins.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606040" cy="48463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182880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1856231"/>
            <a:ext cx="731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70048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0D9488"/>
                </a:solidFill>
                <a:latin typeface="Times New Roman"/>
              </a:defRPr>
            </a:pPr>
            <a:r>
              <a:t>Pharmacien Adjoint / Préparateur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291840"/>
            <a:ext cx="233172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3814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Délivre les médicaments sur ordonnance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0507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Valide les commandes fournisseurs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Contrôle les réceptions et les 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3892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Ne peut pas modifier les prix de vente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8728" y="1691640"/>
            <a:ext cx="2606040" cy="4846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5988" y="1828800"/>
            <a:ext cx="731520" cy="7315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5988" y="1856231"/>
            <a:ext cx="731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2670048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D4ED8"/>
                </a:solidFill>
                <a:latin typeface="Times New Roman"/>
              </a:defRPr>
            </a:pPr>
            <a:r>
              <a:t>Gestionnaire de Stock / Magasinier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8" y="3291840"/>
            <a:ext cx="23317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5888" y="343814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Reçoit et pointe les livraisons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400507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Enregistre les numéros de lot et dates de péremption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8" y="45720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Réalise les inventaires tournants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8" y="513892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N'a pas accès à la caisse ni aux ventes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5936" y="1691640"/>
            <a:ext cx="2606040" cy="4846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83196" y="1828800"/>
            <a:ext cx="731520" cy="73152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3196" y="1856231"/>
            <a:ext cx="731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2670048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5803D"/>
                </a:solidFill>
                <a:latin typeface="Times New Roman"/>
              </a:defRPr>
            </a:pPr>
            <a:r>
              <a:t>Caissier / Vendeur Comptoir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83096" y="3291840"/>
            <a:ext cx="2331720" cy="274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343814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Scanne et encaisse les médicaments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00507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Ouvre et ferme sa propre session de caisse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45720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Imprime les tickets et factures clients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513892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Ne voit que ses propres ventes de la journée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53144" y="1691640"/>
            <a:ext cx="2606040" cy="48463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90404" y="1828800"/>
            <a:ext cx="731520" cy="7315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90404" y="1856231"/>
            <a:ext cx="731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0304" y="2670048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6D28D9"/>
                </a:solidFill>
                <a:latin typeface="Times New Roman"/>
              </a:defRPr>
            </a:pPr>
            <a:r>
              <a:t>Responsable Comptable / Rapport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90304" y="3291840"/>
            <a:ext cx="2331720" cy="274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0304" y="343814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Consulte les rapports Z de clôture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400507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Exporte les données vers le comptable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0304" y="45720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Suit les créances d'assurance en attente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513892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Ne peut pas effectuer de ventes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6565392"/>
            <a:ext cx="10698480" cy="20116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6601968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C2410C"/>
                </a:solidFill>
                <a:latin typeface="Times New Roman"/>
              </a:defRPr>
            </a:pPr>
            <a:r>
              <a:t>🔔  Un employé ne peut faire que ce que son rôle lui autorise. Si quelqu'un tente de faire autre chose, le système l'en empêche automatiquement.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Comment les pharmacies coexistent sans se mélanger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Un seul logiciel, plusieurs pharmacies — mais des données totalement séparées.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💡  Imaginez un immeuble sécurisé. L'Admin Plateforme est le gérant. Il ouvre de nouveaux appartements. Chaque locataire (pharmacie) ferme sa porte à clé et personne d'autre ne peut entrer.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7498079" cy="4297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64748B"/>
                </a:solidFill>
                <a:latin typeface="Times New Roman"/>
              </a:defRPr>
            </a:pPr>
            <a:r>
              <a:t>🏢  L'Immeuble PharmaGest Online  (Serveur Partagé Sécurisé dans le Cloud)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2148840" cy="35204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15768" y="3108960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09067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D9488"/>
                </a:solidFill>
                <a:latin typeface="Times New Roman"/>
              </a:defRPr>
            </a:pPr>
            <a:r>
              <a:t>🔑 Pharmacie du Centre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3657600"/>
            <a:ext cx="187452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749039"/>
            <a:ext cx="187452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Prix Amox. 500mg : 1 800 FBu</a:t>
            </a:r>
            <a:br/>
            <a:r>
              <a:t>Stock : 140 boîtes</a:t>
            </a:r>
            <a:br/>
            <a:r>
              <a:t>NIF : 4000-123</a:t>
            </a:r>
            <a:br/>
            <a:r>
              <a:t>Assurance : CNAM (80/20)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72384" y="4114800"/>
            <a:ext cx="36576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2971800"/>
            <a:ext cx="2148840" cy="3520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47488" y="3108960"/>
            <a:ext cx="201168" cy="20116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309067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D4ED8"/>
                </a:solidFill>
                <a:latin typeface="Times New Roman"/>
              </a:defRPr>
            </a:pPr>
            <a:r>
              <a:t>🔑 Pharmacie de la Gare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657600"/>
            <a:ext cx="18745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749039"/>
            <a:ext cx="187452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Prix Amox. 500mg : 1 650 FBu</a:t>
            </a:r>
            <a:br/>
            <a:r>
              <a:t>Stock : 85 boîtes</a:t>
            </a:r>
            <a:br/>
            <a:r>
              <a:t>NIF : 4000-987</a:t>
            </a:r>
            <a:br/>
            <a:r>
              <a:t>Assurance : Gras Savoye (70/30)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04104" y="4114800"/>
            <a:ext cx="36576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2971800"/>
            <a:ext cx="2148840" cy="35204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79208" y="3108960"/>
            <a:ext cx="201168" cy="20116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309067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6D28D9"/>
                </a:solidFill>
                <a:latin typeface="Times New Roman"/>
              </a:defRPr>
            </a:pPr>
            <a:r>
              <a:t>🔑 Pharmacie Nord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3657600"/>
            <a:ext cx="1874520" cy="274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749039"/>
            <a:ext cx="187452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Prix Amox. 500mg : 1 720 FBu</a:t>
            </a:r>
            <a:br/>
            <a:r>
              <a:t>Stock : 60 boîtes</a:t>
            </a:r>
            <a:br/>
            <a:r>
              <a:t>NIF : 4000-567</a:t>
            </a:r>
            <a:br/>
            <a:r>
              <a:t>Assurance : Ascoma (75/25)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2423160"/>
            <a:ext cx="3200400" cy="429768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2560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A16207"/>
                </a:solidFill>
                <a:latin typeface="Times New Roman"/>
              </a:defRPr>
            </a:pPr>
            <a:r>
              <a:t>👑 Gérant de l'immeuble</a:t>
            </a:r>
            <a:br/>
            <a:r>
              <a:t>(Admin Plateforme)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3218688"/>
            <a:ext cx="2834640" cy="27432"/>
          </a:xfrm>
          <a:prstGeom prst="rect">
            <a:avLst/>
          </a:prstGeom>
          <a:solidFill>
            <a:srgbClr val="A1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3364992"/>
            <a:ext cx="2834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✔ Crée de nouveaux</a:t>
            </a:r>
            <a:br/>
            <a:r>
              <a:t>   appartements (pharmacies)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114800"/>
            <a:ext cx="2834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✔ Remet la clé à chaque</a:t>
            </a:r>
            <a:br/>
            <a:r>
              <a:t>   nouveau titulaire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864608"/>
            <a:ext cx="2834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✔ Surveille que tout</a:t>
            </a:r>
            <a:br/>
            <a:r>
              <a:t>   fonctionne bien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5614416"/>
            <a:ext cx="2834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✘ Ne peut jamais entrer</a:t>
            </a:r>
            <a:br/>
            <a:r>
              <a:t>   dans un appartement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784848"/>
            <a:ext cx="10698480" cy="20116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6821424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D9488"/>
                </a:solidFill>
                <a:latin typeface="Times New Roman"/>
              </a:defRPr>
            </a:pPr>
            <a:r>
              <a:t>🔐  Le cloisonnement est automatique et total. La Pharmacie A ne peut jamais voir les données de la Pharmacie 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Le même médicament, mais des données différentes dans chaque pharmacie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Chaque officine fixe ses propres prix, gère son propre stock et ses propres clients — en toute indépendance.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💡  Exemple concret : 3 pharmacies vendent toutes l'Amoxicilline 500mg. Mais dans le logiciel, chacune a ses propres données — sans aucune interférence entre elles.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56032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Times New Roman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3383280" y="2377440"/>
            <a:ext cx="2560320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🏥 Pharmacie du Centre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377440"/>
            <a:ext cx="2560320" cy="5943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🏥 Pharmacie de la Gare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377440"/>
            <a:ext cx="2560320" cy="59436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🏥 Pharmacie Nord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17520"/>
            <a:ext cx="256032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127248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💊 Prix de vente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017520"/>
            <a:ext cx="2560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3008" y="3127248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1 800 FBu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017520"/>
            <a:ext cx="2560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3127248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1 650 FBu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3017520"/>
            <a:ext cx="2560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528" y="3127248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1 720 FBu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02736"/>
            <a:ext cx="256032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712464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📦 Stock actuel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602736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3712464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140 boîtes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602736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4768" y="3712464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85 boîtes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3602736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6528" y="3712464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60 boîtes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187952"/>
            <a:ext cx="256032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297680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🧾 NIF fiscal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4187952"/>
            <a:ext cx="2560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93008" y="4297680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4000-123456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4187952"/>
            <a:ext cx="2560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4297680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4000-987654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0" y="4187952"/>
            <a:ext cx="2560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96528" y="4297680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4000-567890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773168"/>
            <a:ext cx="256032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4882896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🏥 Assurance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4773168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93008" y="4882896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CNAM (80/20%)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4773168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4768" y="4882896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Gras Savoye (70/30%)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4773168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96528" y="4882896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Ascoma (75/25%)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358384"/>
            <a:ext cx="256032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5468112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👥 Équipe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5358384"/>
            <a:ext cx="2560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93008" y="5468112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3 caissiers + 2 pharma.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5358384"/>
            <a:ext cx="2560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44768" y="5468112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2 caissiers + 1 pharma.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5358384"/>
            <a:ext cx="25603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96528" y="5468112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4 caissiers + 3 pharma.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5943600"/>
            <a:ext cx="256032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" y="6053328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💰 Marge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5943600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93008" y="6053328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+50% sur prix achat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5943600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44768" y="6053328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+43% sur prix achat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0" y="5943600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96528" y="6053328"/>
            <a:ext cx="23408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+47% sur prix achat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6583680"/>
            <a:ext cx="10698480" cy="2286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6638544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Times New Roman"/>
              </a:defRPr>
            </a:pPr>
            <a:r>
              <a:t>✅  Chaque pharmacie est totalement libre de fixer ses prix, marges et partenariats. Aucune décision ne s'impose entre 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Pourquoi ce fonctionnement vous protège et vous libère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Ce modèle vous apporte des avantages concrets, que vous ayez une ou plusieurs officines.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83280" cy="2148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399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03119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Times New Roman"/>
              </a:defRPr>
            </a:pPr>
            <a:r>
              <a:t>Vos données</a:t>
            </a:r>
            <a:br/>
            <a:r>
              <a:t>sont confidentielles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1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Personne d'autre ne peut voir vos ventes, marges ou dossiers patients. Même l'équipe PharmaGest ne consulte pas vos données médicales.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74519"/>
            <a:ext cx="3383280" cy="2148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057399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103119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D4ED8"/>
                </a:solidFill>
                <a:latin typeface="Times New Roman"/>
              </a:defRPr>
            </a:pPr>
            <a:r>
              <a:t>Liberté</a:t>
            </a:r>
            <a:br/>
            <a:r>
              <a:t>commerciale totale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78891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Vous fixez vous-même vos prix et vos conventions d'assurance. Un autre pharmacien sur la plateforme ne vous impose rien.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416" y="1874519"/>
            <a:ext cx="3383280" cy="21488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2057399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2103119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6D28D9"/>
                </a:solidFill>
                <a:latin typeface="Times New Roman"/>
              </a:defRPr>
            </a:pPr>
            <a:r>
              <a:t>Grandir</a:t>
            </a:r>
            <a:br/>
            <a:r>
              <a:t>sans limite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78891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Ouvrir une 2e ou 3e pharmacie ? En quelques minutes elle est créée, avec son propre NIF, son stock et son équipe. Zéro confusion.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39"/>
            <a:ext cx="3383280" cy="21488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89119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434839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0D9488"/>
                </a:solidFill>
                <a:latin typeface="Times New Roman"/>
              </a:defRPr>
            </a:pPr>
            <a:r>
              <a:t>Un seul abonnement,</a:t>
            </a:r>
            <a:br/>
            <a:r>
              <a:t>un seul outil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3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Pas de serveur à acheter ni d'équipe informatique. Vous partagez l'infrastructure — mais vos données restent à vous seul.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4206239"/>
            <a:ext cx="3383280" cy="21488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4389119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👁️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4434839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C2410C"/>
                </a:solidFill>
                <a:latin typeface="Times New Roman"/>
              </a:defRPr>
            </a:pPr>
            <a:r>
              <a:t>Surveiller tout</a:t>
            </a:r>
            <a:br/>
            <a:r>
              <a:t>depuis votre bureau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512063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Gérant d'un réseau de 3 pharmacies ? Voyez les ventes et stocks de chaque officine en un coup d'œil, sans bouger de votre siège.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0416" y="4206239"/>
            <a:ext cx="3383280" cy="21488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4389119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3376" y="4434839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B91C1C"/>
                </a:solidFill>
                <a:latin typeface="Times New Roman"/>
              </a:defRPr>
            </a:pPr>
            <a:r>
              <a:t>Chaque pharmacie</a:t>
            </a:r>
            <a:br/>
            <a:r>
              <a:t>reste elle-même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120639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Ordonnances, patients et dossiers ne se mélangent JAMAIS. La Pharmacie A ne voit pas les clients de la Pharmacie 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Au comptoir : une vente bouclée en 3 secondes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Le logiciel fait tout le travail. Votre équipe se concentre sur le patient.</a:t>
            </a:r>
          </a:p>
        </p:txBody>
      </p:sp>
      <p:sp>
        <p:nvSpPr>
          <p:cNvPr id="7" name="Oval 6"/>
          <p:cNvSpPr/>
          <p:nvPr/>
        </p:nvSpPr>
        <p:spPr>
          <a:xfrm>
            <a:off x="1399032" y="1737360"/>
            <a:ext cx="585216" cy="5852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764792"/>
            <a:ext cx="585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2724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0D9488"/>
                </a:solidFill>
                <a:latin typeface="Times New Roman"/>
              </a:defRPr>
            </a:pPr>
            <a:r>
              <a:t>Scanner le</a:t>
            </a:r>
            <a:br/>
            <a:r>
              <a:t>médicament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67328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Le caissier scanne</a:t>
            </a:r>
            <a:br/>
            <a:r>
              <a:t>le code-barres ou</a:t>
            </a:r>
            <a:br/>
            <a:r>
              <a:t>cherche le nom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60904" y="4069080"/>
            <a:ext cx="173736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40" y="1737360"/>
            <a:ext cx="585216" cy="5852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764792"/>
            <a:ext cx="585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2928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312724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0D9488"/>
                </a:solidFill>
                <a:latin typeface="Times New Roman"/>
              </a:defRPr>
            </a:pPr>
            <a:r>
              <a:t>Calcul</a:t>
            </a:r>
            <a:br/>
            <a:r>
              <a:t>automatique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3767328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Prix, taxes et</a:t>
            </a:r>
            <a:br/>
            <a:r>
              <a:t>monnaie à rendre</a:t>
            </a:r>
            <a:br/>
            <a:r>
              <a:t>calculés en 1 clic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82312" y="4069080"/>
            <a:ext cx="173736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41848" y="1737360"/>
            <a:ext cx="585216" cy="5852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41848" y="1764792"/>
            <a:ext cx="585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74336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11496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496" y="312724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0D9488"/>
                </a:solidFill>
                <a:latin typeface="Times New Roman"/>
              </a:defRPr>
            </a:pPr>
            <a:r>
              <a:t>Encaissement</a:t>
            </a:r>
            <a:br/>
            <a:r>
              <a:t>facile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1496" y="3767328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Espèces, Mobile</a:t>
            </a:r>
            <a:br/>
            <a:r>
              <a:t>Money ou carte</a:t>
            </a:r>
            <a:br/>
            <a:r>
              <a:t>bancaire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903720" y="4069080"/>
            <a:ext cx="173736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63256" y="1737360"/>
            <a:ext cx="585216" cy="5852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63256" y="1764792"/>
            <a:ext cx="585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95744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2904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312724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0D9488"/>
                </a:solidFill>
                <a:latin typeface="Times New Roman"/>
              </a:defRPr>
            </a:pPr>
            <a:r>
              <a:t>Facture</a:t>
            </a:r>
            <a:br/>
            <a:r>
              <a:t>légale émise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2904" y="3767328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Reçu OBR officiel</a:t>
            </a:r>
            <a:br/>
            <a:r>
              <a:t>avec QR code généré</a:t>
            </a:r>
            <a:br/>
            <a:r>
              <a:t>instantanément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025128" y="4069080"/>
            <a:ext cx="173736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84664" y="1737360"/>
            <a:ext cx="585216" cy="58521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84664" y="1764792"/>
            <a:ext cx="585216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17152" y="2423160"/>
            <a:ext cx="19202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54312" y="25603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🖨️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4312" y="312724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0D9488"/>
                </a:solidFill>
                <a:latin typeface="Times New Roman"/>
              </a:defRPr>
            </a:pPr>
            <a:r>
              <a:t>Impression</a:t>
            </a:r>
            <a:br/>
            <a:r>
              <a:t>ticket rapide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4312" y="3767328"/>
            <a:ext cx="1645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Ticket en 2 secondes</a:t>
            </a:r>
            <a:br/>
            <a:r>
              <a:t>sur l'imprimante</a:t>
            </a:r>
            <a:br/>
            <a:r>
              <a:t>caisse 80mm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6309360"/>
            <a:ext cx="10698480" cy="4114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6373368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🎯  Les remises ne peuvent être accordées que par les personnes autorisées. Les erreurs et les abus sont évités automatiquement.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Vos médicaments : aucune perte, aucune péremption ratée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Le logiciel surveille vos stocks à votre place — comme un gardien de rayon infaillible.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💡  La règle de base : toujours vendre en premier les médicaments qui vont expirer le plus tôt. PharmaGest applique cela automatiquement, sans que votre équipe n'ait à y penser.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3291840" cy="25603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06040"/>
            <a:ext cx="594360" cy="347472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1er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C2410C"/>
                </a:solidFill>
                <a:latin typeface="Times New Roman"/>
              </a:defRPr>
            </a:pPr>
            <a:r>
              <a:t>📦 Lot A — Expire dans 2 mois 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C2410C"/>
                </a:solidFill>
                <a:latin typeface="Times New Roman"/>
              </a:defRPr>
            </a:pPr>
            <a:r>
              <a:t>→ VENDU EN PREMIER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32504" y="3520440"/>
            <a:ext cx="219456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468880"/>
            <a:ext cx="3291840" cy="2560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2606040"/>
            <a:ext cx="594360" cy="347472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2e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035808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Times New Roman"/>
              </a:defRPr>
            </a:pPr>
            <a:r>
              <a:t>📦 Lot B — Expire dans 8 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73075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Times New Roman"/>
              </a:defRPr>
            </a:pPr>
            <a:r>
              <a:t>→ VENDU EN SECOND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598664" y="3520440"/>
            <a:ext cx="219456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0" y="2468880"/>
            <a:ext cx="3291840" cy="2560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01000" y="2606040"/>
            <a:ext cx="594360" cy="34747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3e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035808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D4ED8"/>
                </a:solidFill>
                <a:latin typeface="Times New Roman"/>
              </a:defRPr>
            </a:pPr>
            <a:r>
              <a:t>📦 Lot C — Expire dans 14 mois 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73075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D4ED8"/>
                </a:solidFill>
                <a:latin typeface="Times New Roman"/>
              </a:defRPr>
            </a:pPr>
            <a:r>
              <a:t>→ VENDU EN DERNIER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F172A"/>
                </a:solidFill>
                <a:latin typeface="Times New Roman"/>
              </a:defRPr>
            </a:pPr>
            <a:r>
              <a:t>🔔  Le logiciel vous prévient automatiquement avant expiration 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06440"/>
            <a:ext cx="3383280" cy="7315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92531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🟠 90 jours avant — Informez votre fournisseur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5806440"/>
            <a:ext cx="3383280" cy="7315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592531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🔴 30 jours avant — Promotion ou retour en urgence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0416" y="5806440"/>
            <a:ext cx="3383280" cy="73152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592531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⛔ Date dépassée — Bloqué automatiquement à la vente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La caisse : plus jamais d'écart inexpliqué le soir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Votre caissier ouvre, vend, compte et ferme. Le logiciel vérifie tout automatiquement.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606040" cy="4526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D4ED8"/>
                </a:solidFill>
                <a:latin typeface="Times New Roman"/>
              </a:defRPr>
            </a:pPr>
            <a:r>
              <a:t>🌅 MATIN — Ouverture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468880"/>
            <a:ext cx="2276856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06040"/>
            <a:ext cx="22768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Votre caissier déclare le montant en caisse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46120"/>
            <a:ext cx="22768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Ex : 50 000 FBu pour démarrer la journée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886200"/>
            <a:ext cx="22768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Heure et somme enregistrées par le logiciel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46704" y="3657600"/>
            <a:ext cx="173736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8728" y="1691640"/>
            <a:ext cx="2606040" cy="45262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828800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Times New Roman"/>
              </a:defRPr>
            </a:pPr>
            <a:r>
              <a:t>☀️ JOURNÉE — Ventes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468880"/>
            <a:ext cx="2276856" cy="274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606040"/>
            <a:ext cx="22768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Chaque vente enregistrée en temps réel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246120"/>
            <a:ext cx="22768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Total disponible mis à jour à chaque encaissement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886200"/>
            <a:ext cx="22768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Sorties approuvées également enregistrées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53912" y="3657600"/>
            <a:ext cx="173736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45936" y="1691640"/>
            <a:ext cx="2606040" cy="45262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1828800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C2410C"/>
                </a:solidFill>
                <a:latin typeface="Times New Roman"/>
              </a:defRPr>
            </a:pPr>
            <a:r>
              <a:t>🌇 SOIR — Comptage à l'aveugle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2468880"/>
            <a:ext cx="2276856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606040"/>
            <a:ext cx="22768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Le caissier compte l'argent physiquement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246120"/>
            <a:ext cx="22768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Il saisit la somme sans voir le total attendu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886200"/>
            <a:ext cx="22768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Honnêteté garantie — impossible de tricher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961120" y="3657600"/>
            <a:ext cx="173736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53144" y="1691640"/>
            <a:ext cx="2606040" cy="45262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7736" y="1828800"/>
            <a:ext cx="2276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6D28D9"/>
                </a:solidFill>
                <a:latin typeface="Times New Roman"/>
              </a:defRPr>
            </a:pPr>
            <a:r>
              <a:t>📋 RÉSULTAT — Rapport 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17736" y="2468880"/>
            <a:ext cx="2276856" cy="274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7736" y="2606040"/>
            <a:ext cx="22768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Le logiciel compare automatiquement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3246120"/>
            <a:ext cx="22768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Excédent ou manquant indiqué à l'unité près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3886200"/>
            <a:ext cx="22768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Rapport Z officiel généré pour la comptabilité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400800"/>
            <a:ext cx="10698480" cy="3657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64648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✅  Plusieurs caisses en simultané ? Chacune a son propre rapport. Vous comparez tout depuis votre bureau.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Assurances &amp; mutuelles : calculées automatiquement, réclamées facilement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Votre caissier n'a plus besoin de calculer la part de la mutuelle à la 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💡  Pour chaque patient assuré, le logiciel répartit automatiquement qui paie quoi — le patient règle sa part immédiatement, la pharmacie réclame le reste à la mutuelle.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3160"/>
            <a:ext cx="3291840" cy="3977639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D4ED8"/>
                </a:solidFill>
                <a:latin typeface="Times New Roman"/>
              </a:defRPr>
            </a:pPr>
            <a:r>
              <a:t>👤 LE 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Présente sa carte mutuelle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5876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Le logiciel calcule sa part (ex. 20%)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17136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Il paye uniquement ce qu'il doit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75504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Reçoit un reçu clair et lisible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423160"/>
            <a:ext cx="3291840" cy="3977639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56032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5803D"/>
                </a:solidFill>
                <a:latin typeface="Times New Roman"/>
              </a:defRPr>
            </a:pPr>
            <a:r>
              <a:t>💊 LA PHARMACIE (PharmaGest)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00400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Aucun calcul manuel nécessaire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85876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La créance est enregistrée automatiquement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17136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Bordereau de remboursement en 1 clic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175504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Suivi de qui a remboursé ou non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423160"/>
            <a:ext cx="3291840" cy="3977639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6D28D9"/>
                </a:solidFill>
                <a:latin typeface="Times New Roman"/>
              </a:defRPr>
            </a:pPr>
            <a:r>
              <a:t>🏥 L'ASSURANCE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Reçoit le bordereau du logiciel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85876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Vérifie et valide les ordonnances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17136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Vire le montant sur votre compte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175504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La pharmacie enregistre le règlement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206240" y="4251960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863840" y="4251960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6565392"/>
            <a:ext cx="10698480" cy="2286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6620256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C2410C"/>
                </a:solidFill>
                <a:latin typeface="Times New Roman"/>
              </a:defRPr>
            </a:pPr>
            <a:r>
              <a:t>🔔  Vous voyez en temps réel combien vous attendez encore de remboursement — et depuis combien de temps.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Facturation légale (OBR) : le logiciel remplace vos déclarations manuelles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Chaque vente génère automatiquement une facture officielle reconnue par l'État burundais.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💡  Comme un caissier de supermarché qui imprime automatiquement un reçu certifié — sauf que c'est l'État burundais qui reconnaît ce reçu comme preuve fiscale officielle. Zéro déclaration manuelle.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5120640" cy="43434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B91C1C"/>
                </a:solidFill>
                <a:latin typeface="Times New Roman"/>
              </a:defRPr>
            </a:pPr>
            <a:r>
              <a:t>😓  Sans PharmaGest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B91C1C"/>
                </a:solidFill>
                <a:latin typeface="Times New Roman"/>
              </a:defRPr>
            </a:pPr>
            <a:r>
              <a:t>❌  Factures manuelles sur papier ou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02736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B91C1C"/>
                </a:solidFill>
                <a:latin typeface="Times New Roman"/>
              </a:defRPr>
            </a:pPr>
            <a:r>
              <a:t>❌  Transmission mensuelle fastidieuse à l'OBR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B91C1C"/>
                </a:solidFill>
                <a:latin typeface="Times New Roman"/>
              </a:defRPr>
            </a:pPr>
            <a:r>
              <a:t>❌  Risque d'oubli, d'erreur ou de retard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26864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B91C1C"/>
                </a:solidFill>
                <a:latin typeface="Times New Roman"/>
              </a:defRPr>
            </a:pPr>
            <a:r>
              <a:t>❌  Pénalités fiscales possibles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38928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B91C1C"/>
                </a:solidFill>
                <a:latin typeface="Times New Roman"/>
              </a:defRPr>
            </a:pPr>
            <a:r>
              <a:t>❌  Impossible de retrouver une ancienne facture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5099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B91C1C"/>
                </a:solidFill>
                <a:latin typeface="Times New Roman"/>
              </a:defRPr>
            </a:pPr>
            <a:r>
              <a:t>❌  Annuler une vente : un casse-tête administratif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77440"/>
            <a:ext cx="5212080" cy="4343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5803D"/>
                </a:solidFill>
                <a:latin typeface="Times New Roman"/>
              </a:defRPr>
            </a:pPr>
            <a:r>
              <a:t>✅  Avec PharmaGest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9067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✅  Facture OBR certifiée émise à chaque vente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02736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✅  Envoi automatique en temps réel à l'OBR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148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✅  QR code scannable par l'agent des impôts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26864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✅  Zéro pénalité — conformité garantie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389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✅  Retrouvez toute facture en quelques secondes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6509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15803D"/>
                </a:solidFill>
                <a:latin typeface="Times New Roman"/>
              </a:defRPr>
            </a:pPr>
            <a:r>
              <a:t>✅  Annulation encadrée et traçable légalement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812280"/>
            <a:ext cx="10698480" cy="3657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8762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C2410C"/>
                </a:solidFill>
                <a:latin typeface="Times New Roman"/>
              </a:defRPr>
            </a:pPr>
            <a:r>
              <a:t>📶  Internet coupé ? Pas de panique. Le logiciel continue à vendre et imprimer des reçus signés. Les factures sont envoyées à l'OBR dès le retour du réseau.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Vos chiffres en direct — sans attendre le comptable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En un coup d'œil, vous savez exactement comment se porte votre officine.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83280" cy="202996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39111"/>
            <a:ext cx="640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30551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5803D"/>
                </a:solidFill>
                <a:latin typeface="Times New Roman"/>
              </a:defRPr>
            </a:pPr>
            <a:r>
              <a:t>Chiffre d'affaires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88919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Du jour, semaine ou année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74519"/>
            <a:ext cx="3383280" cy="202996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039111"/>
            <a:ext cx="640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2130551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D9488"/>
                </a:solidFill>
                <a:latin typeface="Times New Roman"/>
              </a:defRPr>
            </a:pPr>
            <a:r>
              <a:t>Votre marge brute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88919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Ce que vous gagnez réellement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416" y="1874519"/>
            <a:ext cx="3383280" cy="20299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039111"/>
            <a:ext cx="640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2130551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D4ED8"/>
                </a:solidFill>
                <a:latin typeface="Times New Roman"/>
              </a:defRPr>
            </a:pPr>
            <a:r>
              <a:t>Top des ventes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788919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Vos 5 médicaments phares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87367"/>
            <a:ext cx="3383280" cy="202996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25195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34339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C2410C"/>
                </a:solidFill>
                <a:latin typeface="Times New Roman"/>
              </a:defRPr>
            </a:pPr>
            <a:r>
              <a:t>État de votre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001767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Manquants et périmés proches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4087367"/>
            <a:ext cx="3383280" cy="202996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25195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434339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6D28D9"/>
                </a:solidFill>
                <a:latin typeface="Times New Roman"/>
              </a:defRPr>
            </a:pPr>
            <a:r>
              <a:t>Valeur du 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001767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Capital immobilisé et marge potentielle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0416" y="4087367"/>
            <a:ext cx="3383280" cy="202996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425195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9096" y="4343399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B91C1C"/>
                </a:solidFill>
                <a:latin typeface="Times New Roman"/>
              </a:defRPr>
            </a:pPr>
            <a:r>
              <a:t>Clients &amp; créances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5001767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Remboursements mutuelles dus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6309360"/>
            <a:ext cx="10698480" cy="4114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6382512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D9488"/>
                </a:solidFill>
                <a:latin typeface="Times New Roman"/>
              </a:defRPr>
            </a:pPr>
            <a:r>
              <a:t>📱  Consultez vos chiffres depuis votre téléphone, votre tablette ou votre ordinateur — où que vous soyez.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Coupure d'Internet ? Votre pharmacie continue de tourner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PharmaGest est conçu pour fonctionner même quand le réseau est absent.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Times New Roman"/>
              </a:defRPr>
            </a:pPr>
            <a:r>
              <a:t>💡  Comme votre téléphone qui prend des photos même sans réseau — et les envoie quand la connexion revient. PharmaGest fait pareil avec vos ventes.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3383280" cy="41605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C2410C"/>
                </a:solidFill>
                <a:latin typeface="Times New Roman"/>
              </a:defRPr>
            </a:pPr>
            <a:r>
              <a:t>📴 RÉSEAU COUPÉ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063240"/>
            <a:ext cx="3017520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Vous continuez à vendre normalement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6732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Les médicaments sont bien déstockés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Les tickets s'impriment sans attendre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0118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Écran affiche : 'Mode hors-ligne actif'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6811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Zéro interruption de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377440"/>
            <a:ext cx="3383280" cy="4160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51460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D4ED8"/>
                </a:solidFill>
                <a:latin typeface="Times New Roman"/>
              </a:defRPr>
            </a:pPr>
            <a:r>
              <a:t>🔄 EN MÉMOIRE LOCALE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063240"/>
            <a:ext cx="30175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20040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Toutes les ventes sont sauvegardées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6732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Un identifiant unique évite les doublons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33425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Aucune perte de données, jamais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0118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Le logiciel attend le retour du réseau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46811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Pas un seul centime perdu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377440"/>
            <a:ext cx="3383280" cy="41605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51460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Times New Roman"/>
              </a:defRPr>
            </a:pPr>
            <a:r>
              <a:t>📡 RÉSEAU REVIENT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063240"/>
            <a:ext cx="3017520" cy="274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20040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Synchronisation automatique en quelques secondes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76732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Toutes les ventes remontent dans le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334256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Factures envoyées à l'OBR automatiquement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0118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Tableaux de bord mis à jour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46811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Times New Roman"/>
              </a:defRPr>
            </a:pPr>
            <a:r>
              <a:t>• Rien à faire — entièrement automatique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206240" y="4315968"/>
            <a:ext cx="164592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7863840" y="4315968"/>
            <a:ext cx="164592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" y="6656832"/>
            <a:ext cx="10698480" cy="16459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6693408"/>
            <a:ext cx="10058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15803D"/>
                </a:solidFill>
                <a:latin typeface="Times New Roman"/>
              </a:defRPr>
            </a:pPr>
            <a:r>
              <a:t>✅  Garanti sans perte de données. Garanti sans interruption. Garanti pour votre tranquillité.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Ce que vous gagnez concrètement chaque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1">
                <a:solidFill>
                  <a:srgbClr val="CCFBF1"/>
                </a:solidFill>
                <a:latin typeface="Times New Roman"/>
              </a:defRPr>
            </a:pPr>
            <a:r>
              <a:t>Des bénéfices visibles, mesurables, dès la première semaine d'utilisation.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83280" cy="202996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399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130551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5803D"/>
                </a:solidFill>
                <a:latin typeface="Times New Roman"/>
              </a:defRPr>
            </a:pPr>
            <a:r>
              <a:t>Du temps libéré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19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Moins de temps à chercher, calculer, corriger. Plus de temps pour le patient.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74519"/>
            <a:ext cx="3383280" cy="202996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057399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216" y="2130551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D9488"/>
                </a:solidFill>
                <a:latin typeface="Times New Roman"/>
              </a:defRPr>
            </a:pPr>
            <a:r>
              <a:t>De l'argent économisé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788919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Zéro médicament périmé. Moins d'erreurs de caisse. Marge connue chaque jour.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416" y="1874519"/>
            <a:ext cx="3383280" cy="20299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2057399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1664" y="2130551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D4ED8"/>
                </a:solidFill>
                <a:latin typeface="Times New Roman"/>
              </a:defRPr>
            </a:pPr>
            <a:r>
              <a:t>La conformité légale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788919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Toutes vos factures sont légales. Zéro risque de pénalité OBR.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87367"/>
            <a:ext cx="3383280" cy="202996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70247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343399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6D28D9"/>
                </a:solidFill>
                <a:latin typeface="Times New Roman"/>
              </a:defRPr>
            </a:pPr>
            <a:r>
              <a:t>La sérénité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01767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Vos données sauvegardées. Même si la connexion tombe, rien n'est perdu.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4087367"/>
            <a:ext cx="3383280" cy="202996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4270247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4343399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C2410C"/>
                </a:solidFill>
                <a:latin typeface="Times New Roman"/>
              </a:defRPr>
            </a:pPr>
            <a:r>
              <a:t>La croissance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5001767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Connaissez vos produits les plus rentables. Prenez de meilleures décisions.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0416" y="4087367"/>
            <a:ext cx="3383280" cy="202996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4270247"/>
            <a:ext cx="594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00" b="0" i="0">
                <a:solidFill>
                  <a:srgbClr val="0F172A"/>
                </a:solidFill>
                <a:latin typeface="Times New Roman"/>
              </a:defRPr>
            </a:pPr>
            <a:r>
              <a:t>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1664" y="4343399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15803D"/>
                </a:solidFill>
                <a:latin typeface="Times New Roman"/>
              </a:defRPr>
            </a:pPr>
            <a:r>
              <a:t>L'évolutivité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5001767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Times New Roman"/>
              </a:defRPr>
            </a:pPr>
            <a:r>
              <a:t>Ouvrez une 2e pharmacie. Le logiciel s'adapte sans tout recommencer.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5486400" cy="5486400"/>
          </a:xfrm>
          <a:prstGeom prst="ellipse">
            <a:avLst/>
          </a:prstGeom>
          <a:solidFill>
            <a:srgbClr val="14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0" i="0">
                <a:solidFill>
                  <a:srgbClr val="0D9488"/>
                </a:solidFill>
                <a:latin typeface="Times New Roman"/>
              </a:defRPr>
            </a:pPr>
            <a:r>
              <a:t>Prêt à transformer votre officine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Times New Roman"/>
              </a:defRPr>
            </a:pPr>
            <a:r>
              <a:t>PharmaGest Online</a:t>
            </a:r>
            <a:br/>
            <a:r>
              <a:t>vous accompagne.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CBD5E1"/>
                </a:solidFill>
                <a:latin typeface="Times New Roman"/>
              </a:defRPr>
            </a:pPr>
            <a:r>
              <a:t>✅  Mise en route rapide — opérationnel en quelques heures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CBD5E1"/>
                </a:solidFill>
                <a:latin typeface="Times New Roman"/>
              </a:defRPr>
            </a:pPr>
            <a:r>
              <a:t>✅  Formation incluse pour vos équipes au comptoir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CBD5E1"/>
                </a:solidFill>
                <a:latin typeface="Times New Roman"/>
              </a:defRPr>
            </a:pPr>
            <a:r>
              <a:t>✅  Support disponible pour répondre à vos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03520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 i="0">
                <a:solidFill>
                  <a:srgbClr val="CBD5E1"/>
                </a:solidFill>
                <a:latin typeface="Times New Roman"/>
              </a:defRPr>
            </a:pPr>
            <a:r>
              <a:t>✅  Vos données restent les vôtres, sécurisées et confidentielles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852160"/>
            <a:ext cx="8229600" cy="80467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6035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 i="0">
                <a:solidFill>
                  <a:srgbClr val="0D9488"/>
                </a:solidFill>
                <a:latin typeface="Times New Roman"/>
              </a:defRPr>
            </a:pPr>
            <a:r>
              <a:t>💊  Pour votre pharmacie. Pour vos patients. Pour votre sérénité.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
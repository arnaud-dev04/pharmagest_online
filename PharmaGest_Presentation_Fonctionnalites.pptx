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PharmaGest Online</a:t>
            </a:r>
          </a:p>
          <a:p>
            <a:pPr>
              <a:spcAft>
                <a:spcPts val="2800"/>
              </a:spcAft>
              <a:defRPr sz="2000">
                <a:solidFill>
                  <a:srgbClr val="0D9488"/>
                </a:solidFill>
                <a:latin typeface="Arial"/>
              </a:defRPr>
            </a:pPr>
            <a:r>
              <a:t>ERP Pharmaceutique Intégré &amp; Facturation Électronique Fiscale OBR EBMS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Guide Technique &amp; Présentation Complète des Fonctionnalités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Multi-Tenant Cloud &amp; Local | Vente FEFO par Lots | Caisse Sécurisée | Port 9443 EBMS V0.5 | Mode Hors-Ligne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01. FONDATIONS &amp; TECHNOLOGIES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Architecture Technique &amp; Stack Technologique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Frontend Moderne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RAPIDITÉ &amp; FLUIDITÉ UI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Framework : </a:t>
            </a:r>
            <a:r>
              <a:rPr>
                <a:solidFill>
                  <a:srgbClr val="0F172A"/>
                </a:solidFill>
              </a:rPr>
              <a:t>Flutter 3.44+ multiplateforme (Desktop Windows Natif, Web, Mobile).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Design &amp; Ergonomie : </a:t>
            </a:r>
            <a:r>
              <a:rPr>
                <a:solidFill>
                  <a:srgbClr val="0F172A"/>
                </a:solidFill>
              </a:rPr>
              <a:t>Interface Material 3 soignée, mode clair/sombre, responsive desktop et tablette.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State Management : </a:t>
            </a:r>
            <a:r>
              <a:rPr>
                <a:solidFill>
                  <a:srgbClr val="0F172A"/>
                </a:solidFill>
              </a:rPr>
              <a:t>Provider réactif avec découplage propre des états métier (Auth, Cart, Inventory, License).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Édition PDF &amp; Tickets : </a:t>
            </a:r>
            <a:r>
              <a:rPr>
                <a:solidFill>
                  <a:srgbClr val="0F172A"/>
                </a:solidFill>
              </a:rPr>
              <a:t>Moteur vectoriel PDF intégré avec génération automatique de tickets thermiques (80mm) et A4.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Backend &amp; API REST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ROBUSTESSE &amp; FIABILITÉ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Core Framework : </a:t>
            </a:r>
            <a:r>
              <a:rPr>
                <a:solidFill>
                  <a:srgbClr val="0F172A"/>
                </a:solidFill>
              </a:rPr>
              <a:t>FastAPI (Python 3.10) hautement performant avec validation stricte Pydantic V2.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ORM &amp; Transaction : </a:t>
            </a:r>
            <a:r>
              <a:rPr>
                <a:solidFill>
                  <a:srgbClr val="0F172A"/>
                </a:solidFill>
              </a:rPr>
              <a:t>SQLAlchemy 2.0 avec contextes atomiques et contrôle d'intégrité par pharmacie.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Sécurité &amp; Auth : </a:t>
            </a:r>
            <a:r>
              <a:rPr>
                <a:solidFill>
                  <a:srgbClr val="0F172A"/>
                </a:solidFill>
              </a:rPr>
              <a:t>Chiffrement Bcrypt / Argon2id, tokens d'accès JWT et refresh tokens sécurisés.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Auto-Repair Schéma : </a:t>
            </a:r>
            <a:r>
              <a:rPr>
                <a:solidFill>
                  <a:srgbClr val="0F172A"/>
                </a:solidFill>
              </a:rPr>
              <a:t>Migration dynamique automatique des colonnes sans rupture de service ni perte de données.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Double Base &amp; Résilience</a:t>
            </a:r>
          </a:p>
          <a:p>
            <a:pPr>
              <a:spcAft>
                <a:spcPts val="800"/>
              </a:spcAft>
              <a:defRPr sz="950" b="1">
                <a:solidFill>
                  <a:srgbClr val="16A34A"/>
                </a:solidFill>
                <a:latin typeface="Arial"/>
              </a:defRPr>
            </a:pPr>
            <a:r>
              <a:t>● ZÉRO ARRÊT D'ACTIVITÉ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Cloud Distant : </a:t>
            </a:r>
            <a:r>
              <a:rPr>
                <a:solidFill>
                  <a:srgbClr val="0F172A"/>
                </a:solidFill>
              </a:rPr>
              <a:t>MySQL 8 hébergé sur Aiven Cloud avec connexions SSL sécurisées et pooling optimisé.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Base Locale : </a:t>
            </a:r>
            <a:r>
              <a:rPr>
                <a:solidFill>
                  <a:srgbClr val="0F172A"/>
                </a:solidFill>
              </a:rPr>
              <a:t>SQLite haute vitesse avec mode WAL (Write-Ahead Logging) pour fluidité absolue.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Résilience Totale : </a:t>
            </a:r>
            <a:r>
              <a:rPr>
                <a:solidFill>
                  <a:srgbClr val="0F172A"/>
                </a:solidFill>
              </a:rPr>
              <a:t>Fonctionnement 100% autonome hors-ligne en cas de coupure de connexion Internet.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Sync Asynchrone : </a:t>
            </a:r>
            <a:r>
              <a:rPr>
                <a:solidFill>
                  <a:srgbClr val="0F172A"/>
                </a:solidFill>
              </a:rPr>
              <a:t>File d'attente de synchronisation automatique vers le Cloud dès retour du réseau.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02. MULTI-OFFICINES &amp; SÉCURITÉ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Architecture Multi-Tenant : Isolation Absolue des Officines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Cloisonnement par Pharmacie (Tenant)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SÉPARATION STRICTE DES DONNÉES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Entité Pharmacie : </a:t>
            </a:r>
            <a:r>
              <a:rPr>
                <a:solidFill>
                  <a:srgbClr val="0F172A"/>
                </a:solidFill>
              </a:rPr>
              <a:t>Chaque officine possède son compte (`Pharmacy`), ses identifiants fiscaux, ses licences et ses limites.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Filtrage ORM Automatique : </a:t>
            </a:r>
            <a:r>
              <a:rPr>
                <a:solidFill>
                  <a:srgbClr val="0F172A"/>
                </a:solidFill>
              </a:rPr>
              <a:t>La session SQLAlchemy applique automatiquement la condition `pharmacy_id == tenant_id` sur toutes les requêtes (SELECT, UPDATE, DELETE).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Contrôle d'Écriture : </a:t>
            </a:r>
            <a:r>
              <a:rPr>
                <a:solidFill>
                  <a:srgbClr val="0F172A"/>
                </a:solidFill>
              </a:rPr>
              <a:t>Lors du flush, tout enregistrement lié à une table scopée est automatiquement assigné au tenant connecté, interdisant toute écriture croisée.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Audits 100% Validés : </a:t>
            </a:r>
            <a:r>
              <a:rPr>
                <a:solidFill>
                  <a:srgbClr val="0F172A"/>
                </a:solidFill>
              </a:rPr>
              <a:t>Suite exhaustive de tests d'isolation validée : utilisateurs, stocks, clients, fournisseurs et ventes restent 100% étanches.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Gestion des Licences &amp; Super-Administration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CONTRÔLE ADMINISTRATEUR COMPLET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Plateforme Multi-Abonnements : </a:t>
            </a:r>
            <a:r>
              <a:rPr>
                <a:solidFill>
                  <a:srgbClr val="0F172A"/>
                </a:solidFill>
              </a:rPr>
              <a:t>Gestion de plans personnalisés (Basic, Pro, Illimité) avec quotas d'utilisateurs simultanés.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Cycle de Vie des Licences : </a:t>
            </a:r>
            <a:r>
              <a:rPr>
                <a:solidFill>
                  <a:srgbClr val="0F172A"/>
                </a:solidFill>
              </a:rPr>
              <a:t>Gestion des périodes d'essai, dates d'expiration et alertes graduelles automatiques (30j, 15j, 7j).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Super Admin &amp; Platform Admin : </a:t>
            </a:r>
            <a:r>
              <a:rPr>
                <a:solidFill>
                  <a:srgbClr val="0F172A"/>
                </a:solidFill>
              </a:rPr>
              <a:t>Tableau de bord dédié aux administrateurs pour créer, suspendre ou renouveler les pharmacies en temps réel.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Sécurité Anti-Contournement : </a:t>
            </a:r>
            <a:r>
              <a:rPr>
                <a:solidFill>
                  <a:srgbClr val="0F172A"/>
                </a:solidFill>
              </a:rPr>
              <a:t>Vérification cryptographique et signature de licence pour protéger les droits d'usage de la plateforme.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03. GESTION DES STOCKS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Gestion Intelligente des Stocks &amp; Traçabilité FEFO par 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Principe FEFO (First Expired, First Out)</a:t>
            </a:r>
          </a:p>
          <a:p>
            <a:pPr>
              <a:spcAft>
                <a:spcPts val="800"/>
              </a:spcAft>
              <a:defRPr sz="950" b="1">
                <a:solidFill>
                  <a:srgbClr val="16A34A"/>
                </a:solidFill>
                <a:latin typeface="Arial"/>
              </a:defRPr>
            </a:pPr>
            <a:r>
              <a:t>● RÉDUCTION RADICALE DU GASPILLAGE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Sélection Automatique : </a:t>
            </a:r>
            <a:r>
              <a:rPr>
                <a:solidFill>
                  <a:srgbClr val="0F172A"/>
                </a:solidFill>
              </a:rPr>
              <a:t>Lors de la vente, le système alloue en priorité les lots arrivant à expiration le plus tôt.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Interdiction des Périmés : </a:t>
            </a:r>
            <a:r>
              <a:rPr>
                <a:solidFill>
                  <a:srgbClr val="0F172A"/>
                </a:solidFill>
              </a:rPr>
              <a:t>Blocage automatique et strict de toute tentative de vente d'un lot dont la date de péremption est dépassée.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Multi-Conditionnements : </a:t>
            </a:r>
            <a:r>
              <a:rPr>
                <a:solidFill>
                  <a:srgbClr val="0F172A"/>
                </a:solidFill>
              </a:rPr>
              <a:t>Gestion flexible des formes : Vente par Unité (comprimé), Plaquette (blister), Boîte ou Carton entier.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Conversion Atomique : </a:t>
            </a:r>
            <a:r>
              <a:rPr>
                <a:solidFill>
                  <a:srgbClr val="0F172A"/>
                </a:solidFill>
              </a:rPr>
              <a:t>Calcul exact et instantané du nombre d'unités de base déduites pour chaque lot sélectionné.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Traçabilité, Mouvements &amp; Alertes</a:t>
            </a:r>
          </a:p>
          <a:p>
            <a:pPr>
              <a:spcAft>
                <a:spcPts val="800"/>
              </a:spcAft>
              <a:defRPr sz="950" b="1">
                <a:solidFill>
                  <a:srgbClr val="D97706"/>
                </a:solidFill>
                <a:latin typeface="Arial"/>
              </a:defRPr>
            </a:pPr>
            <a:r>
              <a:t>● CONTRÔLE TOTAL DU CYCLE DE VIE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Traçabilité Fabricant : </a:t>
            </a:r>
            <a:r>
              <a:rPr>
                <a:solidFill>
                  <a:srgbClr val="0F172A"/>
                </a:solidFill>
              </a:rPr>
              <a:t>Enregistrement du numéro de lot fabricant, de la date de fabrication et de la date limite d'utilisation.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Journal d'Audit Complet : </a:t>
            </a:r>
            <a:r>
              <a:rPr>
                <a:solidFill>
                  <a:srgbClr val="0F172A"/>
                </a:solidFill>
              </a:rPr>
              <a:t>Enregistrement de chaque mouvement de stock : entrées commandes, sorties ventes, avaries, pertes et inventaires.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Alertes de Réapprovisionnement : </a:t>
            </a:r>
            <a:r>
              <a:rPr>
                <a:solidFill>
                  <a:srgbClr val="0F172A"/>
                </a:solidFill>
              </a:rPr>
              <a:t>Notification immédiate lorsque le stock total passe sous le seuil critique (`min_stock_alert`).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Centre des Expirations : </a:t>
            </a:r>
            <a:r>
              <a:rPr>
                <a:solidFill>
                  <a:srgbClr val="0F172A"/>
                </a:solidFill>
              </a:rPr>
              <a:t>Suivi visuel des produits expirant dans 90, 60 et 30 jours pour déclencher des déstockages préventifs.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04. CAISSE &amp; ENCAISSEMENT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Point de Vente (POS) &amp; Sessions de Caisse Sécurisées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Interface de Vente Haute Vélocité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RAPIDITÉ AU COMPTOIR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Recherche Multi-Critères : </a:t>
            </a:r>
            <a:r>
              <a:rPr>
                <a:solidFill>
                  <a:srgbClr val="0F172A"/>
                </a:solidFill>
              </a:rPr>
              <a:t>Recherche instantanée par DCI, dénomination commerciale, code interne ou code-barres (douchette).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Affichage des Disponibilités : </a:t>
            </a:r>
            <a:r>
              <a:rPr>
                <a:solidFill>
                  <a:srgbClr val="0F172A"/>
                </a:solidFill>
              </a:rPr>
              <a:t>Visualisation directe des lots actifs, des prix par niveau et du stock disponible en temps réel.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Client &amp; NIF Assujetti : </a:t>
            </a:r>
            <a:r>
              <a:rPr>
                <a:solidFill>
                  <a:srgbClr val="0F172A"/>
                </a:solidFill>
              </a:rPr>
              <a:t>Sélection d'un client fidèle ou saisie d'un client comptoir avec NIF optionnel pour l'OBR.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Remises &amp; Fidélité : </a:t>
            </a:r>
            <a:r>
              <a:rPr>
                <a:solidFill>
                  <a:srgbClr val="0F172A"/>
                </a:solidFill>
              </a:rPr>
              <a:t>Application de remises par ligne ou globale avec attribution automatique de points bonus de fidélité.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Contrôle Financier &amp; Modes de Paiement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SÉCURITÉ FINANCIÈRE SANS FAILLE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Sessions de Caisse : </a:t>
            </a:r>
            <a:r>
              <a:rPr>
                <a:solidFill>
                  <a:srgbClr val="0F172A"/>
                </a:solidFill>
              </a:rPr>
              <a:t>Ouverture obligatoire de session avec fond de caisse initial et association stricte au caissier en poste.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Mouvements d'Espèces : </a:t>
            </a:r>
            <a:r>
              <a:rPr>
                <a:solidFill>
                  <a:srgbClr val="0F172A"/>
                </a:solidFill>
              </a:rPr>
              <a:t>Enregistrement horodaté des entrées exceptionnelles et des sorties de caisse (dépenses, retraits bancaires).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Multi-Règlements : </a:t>
            </a:r>
            <a:r>
              <a:rPr>
                <a:solidFill>
                  <a:srgbClr val="0F172A"/>
                </a:solidFill>
              </a:rPr>
              <a:t>Prise en charge Espèces, Cartes bancaires, Tiers-payant / Assurance (avec %, police, matricule) et Mobile Money.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Clôture &amp; Contrôle d'Écart : </a:t>
            </a:r>
            <a:r>
              <a:rPr>
                <a:solidFill>
                  <a:srgbClr val="0F172A"/>
                </a:solidFill>
              </a:rPr>
              <a:t>Comptage physique final avec calcul automatique de l'écart théorique/réel et verrouillage de la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05. FISCALITÉ ÉLECTRONIQUE OBR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Liaison Fiscale OBR EBMS V0.5 (Burundi)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Conformité Technique V0.5 (Port 9443)</a:t>
            </a:r>
          </a:p>
          <a:p>
            <a:pPr>
              <a:spcAft>
                <a:spcPts val="800"/>
              </a:spcAft>
              <a:defRPr sz="950" b="1">
                <a:solidFill>
                  <a:srgbClr val="16A34A"/>
                </a:solidFill>
                <a:latin typeface="Arial"/>
              </a:defRPr>
            </a:pPr>
            <a:r>
              <a:t>● 100% CONFORME OBR BURUNDI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URLs Officielles : </a:t>
            </a:r>
            <a:r>
              <a:rPr>
                <a:solidFill>
                  <a:srgbClr val="0F172A"/>
                </a:solidFill>
              </a:rPr>
              <a:t>Connexion sur port 9443 officiel : `https://ebms.obr.gov.bi:9443/ebms_api` (et environnement sandbox de test).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Format Identifiant Unique : </a:t>
            </a:r>
            <a:r>
              <a:rPr>
                <a:solidFill>
                  <a:srgbClr val="0F172A"/>
                </a:solidFill>
              </a:rPr>
              <a:t>Génération conforme stricte max 90 caractères : `&lt;tp_TIN&gt;/&lt;system_id&gt;/&lt;YYYYMMDDhhmmss&gt;/&lt;invoice_number&gt;`.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Suppression Totale des Nulls : </a:t>
            </a:r>
            <a:r>
              <a:rPr>
                <a:solidFill>
                  <a:srgbClr val="0F172A"/>
                </a:solidFill>
              </a:rPr>
              <a:t>Algorithme récursif `clean_nulls()` garantissant zéro champ `null` dans les JSON envoyés à l'EBMS.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Cartouche Fiscal &amp; QR Code : </a:t>
            </a:r>
            <a:r>
              <a:rPr>
                <a:solidFill>
                  <a:srgbClr val="0F172A"/>
                </a:solidFill>
              </a:rPr>
              <a:t>Impression automatique sur le ticket du QR Code officiel OBR avec signature électronique certifiée.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Endpoints &amp; Processus Fiscaux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TRANSMISSION CERTIFIÉE EN DIRECT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Vérification NIF (`/checkTIN/`) : </a:t>
            </a:r>
            <a:r>
              <a:rPr>
                <a:solidFill>
                  <a:srgbClr val="0F172A"/>
                </a:solidFill>
              </a:rPr>
              <a:t>Validation directe auprès de l'OBR du NIF des clients personnes morales ou assujettis lors de la vente.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Scellement (`/addInvoice_confirm/`) : </a:t>
            </a:r>
            <a:r>
              <a:rPr>
                <a:solidFill>
                  <a:srgbClr val="0F172A"/>
                </a:solidFill>
              </a:rPr>
              <a:t>Transmission en temps réel des lignes, TVA 18%, taxes OTT et TSCE et réception de la signature officielle.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Annulation &amp; Avoir (`/cancelInvoice/`) : </a:t>
            </a:r>
            <a:r>
              <a:rPr>
                <a:solidFill>
                  <a:srgbClr val="0F172A"/>
                </a:solidFill>
              </a:rPr>
              <a:t>Procédure d'annulation conforme avec saisie obligatoire du motif fiscal (`cn_motif`) et réajustement des stocks.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Déclaration Stocks (`/AddStockMovement/`) : </a:t>
            </a:r>
            <a:r>
              <a:rPr>
                <a:solidFill>
                  <a:srgbClr val="0F172A"/>
                </a:solidFill>
              </a:rPr>
              <a:t>Notification des réceptions commandes et mouvements de stock aux serveurs de l'administration fiscale.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06. DISPONIBILITÉ CONTINUE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Résilience Hors-Ligne &amp; Synchronisation Intelligente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Fonctionnement en Cas de Coupure Réseau</a:t>
            </a:r>
          </a:p>
          <a:p>
            <a:pPr>
              <a:spcAft>
                <a:spcPts val="800"/>
              </a:spcAft>
              <a:defRPr sz="950" b="1">
                <a:solidFill>
                  <a:srgbClr val="D97706"/>
                </a:solidFill>
                <a:latin typeface="Arial"/>
              </a:defRPr>
            </a:pPr>
            <a:r>
              <a:t>● VENTE CONTINUE MÊME HORS-LIGNE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Encaissement Ininterrompu : </a:t>
            </a:r>
            <a:r>
              <a:rPr>
                <a:solidFill>
                  <a:srgbClr val="0F172A"/>
                </a:solidFill>
              </a:rPr>
              <a:t>En cas de panne d'Internet ou d'indisponibilité des serveurs OBR, la caisse continue d'encaisser sans aucun blocage.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Signature Déterministe Locale : </a:t>
            </a:r>
            <a:r>
              <a:rPr>
                <a:solidFill>
                  <a:srgbClr val="0F172A"/>
                </a:solidFill>
              </a:rPr>
              <a:t>Génération immédiate d'une signature cryptographique SHA-256 locale permettant l'impression d'un ticket scellé et valide.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Stockage Sécurisé : </a:t>
            </a:r>
            <a:r>
              <a:rPr>
                <a:solidFill>
                  <a:srgbClr val="0F172A"/>
                </a:solidFill>
              </a:rPr>
              <a:t>La facture est marquée `pending` (en attente) et conservée dans la base locale avec son identifiant fiscal immuable.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Protection Juridique : </a:t>
            </a:r>
            <a:r>
              <a:rPr>
                <a:solidFill>
                  <a:srgbClr val="0F172A"/>
                </a:solidFill>
              </a:rPr>
              <a:t>L'officine reste en conformité grâce au scellement horodaté local de la transaction.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Mécanisme de Resynchronisation</a:t>
            </a:r>
          </a:p>
          <a:p>
            <a:pPr>
              <a:spcAft>
                <a:spcPts val="800"/>
              </a:spcAft>
              <a:defRPr sz="950" b="1">
                <a:solidFill>
                  <a:srgbClr val="16A34A"/>
                </a:solidFill>
                <a:latin typeface="Arial"/>
              </a:defRPr>
            </a:pPr>
            <a:r>
              <a:t>● RATTRAPAGE TRANSPARENT DES FLUX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Détection Automatique : </a:t>
            </a:r>
            <a:r>
              <a:rPr>
                <a:solidFill>
                  <a:srgbClr val="0F172A"/>
                </a:solidFill>
              </a:rPr>
              <a:t>Le système teste périodiquement le retour de la connectivité avec le serveur distant OBR et la base Cloud.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Retransmission Groupée : </a:t>
            </a:r>
            <a:r>
              <a:rPr>
                <a:solidFill>
                  <a:srgbClr val="0F172A"/>
                </a:solidFill>
              </a:rPr>
              <a:t>Bouton 'Retransmettre les factures' dans les paramètres pour envoyer en bloc toutes les factures en attente.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Mise à Jour des Signatures : </a:t>
            </a:r>
            <a:r>
              <a:rPr>
                <a:solidFill>
                  <a:srgbClr val="0F172A"/>
                </a:solidFill>
              </a:rPr>
              <a:t>Remplacement transparent du statut local par l'accusé de réception électronique officiel de l'OBR (`synced`).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Compteurs en Direct : </a:t>
            </a:r>
            <a:r>
              <a:rPr>
                <a:solidFill>
                  <a:srgbClr val="0F172A"/>
                </a:solidFill>
              </a:rPr>
              <a:t>Suivi visuel instantané : Factures transmises, factures en attente et anomalies éventuelles.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07. ANALYTIQUE &amp; REPORTING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Tableau de Bord &amp; Visualisations Graphiques Décisionnelles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Graphiques Commerciaux &amp; Ventes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PILOTAGE COMMERCIAL PERFORMANT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Courbe d'Évolution Chiffre d'Affaires : </a:t>
            </a:r>
            <a:r>
              <a:rPr>
                <a:solidFill>
                  <a:srgbClr val="0F172A"/>
                </a:solidFill>
              </a:rPr>
              <a:t>Graphique Recharts/fl_chart montrant la dynamique journalière des recettes sur 7, 30 jours ou période personnalisée.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Donut des Top Médicaments : </a:t>
            </a:r>
            <a:r>
              <a:rPr>
                <a:solidFill>
                  <a:srgbClr val="0F172A"/>
                </a:solidFill>
              </a:rPr>
              <a:t>Diagramme circulaire interactif illustrant la part des ventes des produits phares avec volume total central.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Analyse Temporelle par Jour : </a:t>
            </a:r>
            <a:r>
              <a:rPr>
                <a:solidFill>
                  <a:srgbClr val="0F172A"/>
                </a:solidFill>
              </a:rPr>
              <a:t>Histogramme identifiant les jours de la semaine les plus rentables pour optimiser les plannings.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Habitudes de Vente par Heure : </a:t>
            </a:r>
            <a:r>
              <a:rPr>
                <a:solidFill>
                  <a:srgbClr val="0F172A"/>
                </a:solidFill>
              </a:rPr>
              <a:t>Courbe des heures de pointe pour adapter le nombre de caissiers aux heures d'affluence.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Graphiques de Santé Stock &amp; Rentabilité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VISIBILITÉ STRATÉGIQUE POUR LE PHARMACIEN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Donut de Santé d'Inventaire : </a:t>
            </a:r>
            <a:r>
              <a:rPr>
                <a:solidFill>
                  <a:srgbClr val="0F172A"/>
                </a:solidFill>
              </a:rPr>
              <a:t>Visualisation en 4 quadrants : Stock optimal, seuils d'alerte bas, expirations proches (&lt;90j) et périmés.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Valorisation Financière (Admin) : </a:t>
            </a:r>
            <a:r>
              <a:rPr>
                <a:solidFill>
                  <a:srgbClr val="0F172A"/>
                </a:solidFill>
              </a:rPr>
              <a:t>Comparaison instantanée : Capital immobilisé (prix d'achat) vs Valeur marchande (prix de vente).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Marge Brute Estimée : </a:t>
            </a:r>
            <a:r>
              <a:rPr>
                <a:solidFill>
                  <a:srgbClr val="0F172A"/>
                </a:solidFill>
              </a:rPr>
              <a:t>Calcul automatique du bénéfice potentiel en FBu et du taux de marge moyen global de la pharmacie.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Jauge Proportionnelle : </a:t>
            </a:r>
            <a:r>
              <a:rPr>
                <a:solidFill>
                  <a:srgbClr val="0F172A"/>
                </a:solidFill>
              </a:rPr>
              <a:t>Barre de répartition visuelle illustrant le ratio coût d'acquisition vs marge bénéficiaire brute.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08. GOUVERNANCE &amp; CONTRÔLE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Sécurité, Journal d'Audit &amp; Gestion des Accès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Matrice des Rôles &amp; Permissions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CLOISONNEMENT DES POUVOIRS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Pharmacien Titulaire / Admin : </a:t>
            </a:r>
            <a:r>
              <a:rPr>
                <a:solidFill>
                  <a:srgbClr val="0F172A"/>
                </a:solidFill>
              </a:rPr>
              <a:t>Accès complet : paramétrage OBR, valorisation des stocks, marges financières, rapports et gestion des comptes.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Caissier / Vendeur : </a:t>
            </a:r>
            <a:r>
              <a:rPr>
                <a:solidFill>
                  <a:srgbClr val="0F172A"/>
                </a:solidFill>
              </a:rPr>
              <a:t>Accès restreint au point de vente (POS), encaissement, recherche produit et session de caisse personnelle.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Gestionnaire de Stock : </a:t>
            </a:r>
            <a:r>
              <a:rPr>
                <a:solidFill>
                  <a:srgbClr val="0F172A"/>
                </a:solidFill>
              </a:rPr>
              <a:t>Gestion des réceptions, ajouts de lots, alertes péremption et inventaires sans visibilité sur les marges sensibles.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Verrouillage des Actions Sensibles : </a:t>
            </a:r>
            <a:r>
              <a:rPr>
                <a:solidFill>
                  <a:srgbClr val="0F172A"/>
                </a:solidFill>
              </a:rPr>
              <a:t>L'annulation d'une vente ou la modification des prix exige des droits élevés pour prévenir toute malversation.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Audit Trail &amp; Registre des Suppressions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CONTRÔLE INTERNE TOTAL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Journal d'Audit (`DeletionLog`) : </a:t>
            </a:r>
            <a:r>
              <a:rPr>
                <a:solidFill>
                  <a:srgbClr val="0F172A"/>
                </a:solidFill>
              </a:rPr>
              <a:t>Toute suppression de médicament, lot, client ou utilisateur est tracée (auteur, motif, horodatage, données effacées).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Traçabilité des Annulations : </a:t>
            </a:r>
            <a:r>
              <a:rPr>
                <a:solidFill>
                  <a:srgbClr val="0F172A"/>
                </a:solidFill>
              </a:rPr>
              <a:t>Chaque vente annulée conserve le nom de l'opérateur, la date et le motif officiel d'annulation transmis à l'OBR.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Immutabilité des Factures : </a:t>
            </a:r>
            <a:r>
              <a:rPr>
                <a:solidFill>
                  <a:srgbClr val="0F172A"/>
                </a:solidFill>
              </a:rPr>
              <a:t>Une fois scellée avec sa signature électronique, une facture ne peut être ni altérée ni supprimée clandestinement.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Conformité Règlementaire : </a:t>
            </a:r>
            <a:r>
              <a:rPr>
                <a:solidFill>
                  <a:srgbClr val="0F172A"/>
                </a:solidFill>
              </a:rPr>
              <a:t>Répond aux exigences d'audit des ordres professionnels et de l'administration fiscale burundaise.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09. CONCLUSION &amp; AVANTAGES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Synthèse des Bénéfices Clés pour l'Officine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Zéro Rupture &amp; Zéro Perte</a:t>
            </a:r>
          </a:p>
          <a:p>
            <a:pPr>
              <a:spcAft>
                <a:spcPts val="800"/>
              </a:spcAft>
              <a:defRPr sz="950" b="1">
                <a:solidFill>
                  <a:srgbClr val="16A34A"/>
                </a:solidFill>
                <a:latin typeface="Arial"/>
              </a:defRPr>
            </a:pPr>
            <a:r>
              <a:t>● OPTIMISATION DES STOCKS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Vente FEFO Automatisée : </a:t>
            </a:r>
            <a:r>
              <a:rPr>
                <a:solidFill>
                  <a:srgbClr val="0F172A"/>
                </a:solidFill>
              </a:rPr>
              <a:t>Les lots les plus anciens sortent d'abord, éliminant les oublis d'expiration au fond des tiroirs.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Alertes Anticipées : </a:t>
            </a:r>
            <a:r>
              <a:rPr>
                <a:solidFill>
                  <a:srgbClr val="0F172A"/>
                </a:solidFill>
              </a:rPr>
              <a:t>Notifications 90 jours à l'avance pour négocier des retours fournisseurs ou des déstockages.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Gain Financier Direct : </a:t>
            </a:r>
            <a:r>
              <a:rPr>
                <a:solidFill>
                  <a:srgbClr val="0F172A"/>
                </a:solidFill>
              </a:rPr>
              <a:t>Protection directe de la marge en réduisant drastiquement les pertes de médicaments périmés.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Conformité Fiscale Sereine</a:t>
            </a:r>
          </a:p>
          <a:p>
            <a:pPr>
              <a:spcAft>
                <a:spcPts val="800"/>
              </a:spcAft>
              <a:defRPr sz="950" b="1">
                <a:solidFill>
                  <a:srgbClr val="0D9488"/>
                </a:solidFill>
                <a:latin typeface="Arial"/>
              </a:defRPr>
            </a:pPr>
            <a:r>
              <a:t>● TRANQUILLITÉ RÉGLEMENTAIRE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100% Conforme OBR V0.5 : </a:t>
            </a:r>
            <a:r>
              <a:rPr>
                <a:solidFill>
                  <a:srgbClr val="0F172A"/>
                </a:solidFill>
              </a:rPr>
              <a:t>Génération automatique des identifiants et signatures sans ralentir le service au comptoir.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Tickets Certifiés QR Code : </a:t>
            </a:r>
            <a:r>
              <a:rPr>
                <a:solidFill>
                  <a:srgbClr val="0F172A"/>
                </a:solidFill>
              </a:rPr>
              <a:t>Les clients repartent immédiatement avec leur facture scellée et vérifiable en ligne.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Zéro Stress d'Audit : </a:t>
            </a:r>
            <a:r>
              <a:rPr>
                <a:solidFill>
                  <a:srgbClr val="0F172A"/>
                </a:solidFill>
              </a:rPr>
              <a:t>L'officine est en règle permanente avec les dispositions fiscales du Burundi.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Simplicité &amp; Résilience</a:t>
            </a:r>
          </a:p>
          <a:p>
            <a:pPr>
              <a:spcAft>
                <a:spcPts val="8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● PRODUCTIVITÉ MAXIMALE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Indépendance Réseau : </a:t>
            </a:r>
            <a:r>
              <a:rPr>
                <a:solidFill>
                  <a:srgbClr val="0F172A"/>
                </a:solidFill>
              </a:rPr>
              <a:t>La pharmacie encaisse en continu, même en cas de coupure Internet de plusieurs jours.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Interface Ergonomique : </a:t>
            </a:r>
            <a:r>
              <a:rPr>
                <a:solidFill>
                  <a:srgbClr val="0F172A"/>
                </a:solidFill>
              </a:rPr>
              <a:t>Prise en main en moins d'une heure par les équipes de vente et caissiers.</a:t>
            </a:r>
          </a:p>
          <a:p>
            <a:pPr>
              <a:spcAft>
                <a:spcPts val="600"/>
              </a:spcAft>
              <a:defRPr sz="1100">
                <a:latin typeface="Arial"/>
              </a:defRPr>
            </a:pPr>
            <a:r>
              <a:rPr b="1">
                <a:solidFill>
                  <a:srgbClr val="1E293B"/>
                </a:solidFill>
              </a:rPr>
              <a:t>• Solution Pérenne : </a:t>
            </a:r>
            <a:r>
              <a:rPr>
                <a:solidFill>
                  <a:srgbClr val="0F172A"/>
                </a:solidFill>
              </a:rPr>
              <a:t>Évolutive d'une officine indépendante à un réseau multi-pharmacies avec gestion centralisée.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